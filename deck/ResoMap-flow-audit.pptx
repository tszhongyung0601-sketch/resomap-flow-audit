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這是一份以商家視角實測的流程稽核。全程 21 步，付款只佔 5 步，其餘都需要商家自己猜或自己等。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核心問題不是某個 bug，是付費與交付之間沒有產品路徑。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步裡，商家能獨立完成的只有付款那 5 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三處死路都不是邊緣情境，而是主線上的必經節點。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前三步沒有明顯問題，但「我的訂閱」頁的資訊密度已經接近零。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條款顯示不全是合規問題，不是美觀問題。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付款成功是使用者意願最高的一刻，這個產品在這裡什麼都沒做。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缺的這一步，正是產品該做 onboarding 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這是全流程最根本的問題：付費身分在產品裡不存在。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搜尋自己的店，是這個流程最荒謬也最有代表性的一步。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商家視角在這個產品裡不存在，只有一套給遊客的文案。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這一步暴露了付款狀態沒有回流到產品流程裡。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這一頁是跟老闆談判時最有力的一頁。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 未解析是低成本高可見度的缺陷，代表沒有基本的驗收。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「原來」兩個字就是可用性測試的結果，不需要再另外做測試。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這一頁可以直接拿去對工程師談，責任非常明確。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這是可以直接驗證的資料一致性缺陷。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零通知是這條流程最不可辯解的一點。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這一點會影響品牌，不只是影響單一商家。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第三欄才是這份稽核真正的重點——缺的不是工程能力，是驗收。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用這三個問題收尾，對方無法用技術細節迴避。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先承認前一版框架過頭，再用逐步標記重做。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這張表就是陳醫師要的「前台實測流程逐步標記」。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這一頁是換 OSM 最有力的商業理由，比省錢更重要。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把「Google 不準」具體化成六種會實際發生的情況。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是最大的一項，其他都是它的延伸。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題數從八題收斂到四題，是因為逐步標記排除了大部分不確定性。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收在商業層面：這不是技術偏好問題，是能不能服務客戶的問題。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　／　商家訂閱流程稽核　／　2026.08.27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商家付了三千八，</a:t>
            </a:r>
            <a:endParaRPr lang="en-US" sz="4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然後被留在原地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77240" y="3794760"/>
            <a:ext cx="1371600" cy="36576"/>
          </a:xfrm>
          <a:prstGeom prst="rect">
            <a:avLst/>
          </a:prstGeom>
          <a:solidFill>
            <a:srgbClr val="E09A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1148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B8C2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以商家身分實際走完「訂閱付款 → 語音上線」全流程，共 21 個步驟。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付款只花 49 秒，之後的每一步都在猜、或在等。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806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實測店家「香記烤鴨」（台中南區台中路 252 號）　後台 backend.resomap.app・dev-1.0.0</a:t>
            </a:r>
            <a:endParaRPr lang="en-US" sz="1050" dirty="0"/>
          </a:p>
        </p:txBody>
      </p:sp>
      <p:pic>
        <p:nvPicPr>
          <p:cNvPr id="7" name="Image 0" descr="C:\Users\D1081493\AppData\Local\Temp\claude\C--Users-D1081493-Desktop-wmux-0-8-5\05788e44-933f-4ad6-bd87-31a70750e9ba\scratchpad\audit\img\s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868680"/>
            <a:ext cx="2340896" cy="50749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31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一句話結論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付費與交付之間，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產品裡沒有任何一條路把它們接起來。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3291840" cy="2194560"/>
          </a:xfrm>
          <a:prstGeom prst="roundRect">
            <a:avLst>
              <a:gd name="adj" fmla="val 1667"/>
            </a:avLst>
          </a:prstGeom>
          <a:solidFill>
            <a:srgbClr val="2B3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41148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付款當下，App 沒有變化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4553712"/>
            <a:ext cx="2706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沒有引導、沒有額度顯示，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也沒有「我的景點」入口。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付費前後的地圖一模一樣。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3520440"/>
            <a:ext cx="3291840" cy="2194560"/>
          </a:xfrm>
          <a:prstGeom prst="roundRect">
            <a:avLst>
              <a:gd name="adj" fmla="val 1667"/>
            </a:avLst>
          </a:prstGeom>
          <a:solidFill>
            <a:srgbClr val="2B3A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1728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41148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 100% 由商家自己生產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4553712"/>
            <a:ext cx="2706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自己錄音、自己寫文案、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自己拍照、自己認領。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付費後工作量不減反增。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3520440"/>
            <a:ext cx="3291840" cy="2194560"/>
          </a:xfrm>
          <a:prstGeom prst="roundRect">
            <a:avLst>
              <a:gd name="adj" fmla="val 1667"/>
            </a:avLst>
          </a:prstGeom>
          <a:solidFill>
            <a:srgbClr val="2B3A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3608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41148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主線由三個人工關卡串起來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4553712"/>
            <a:ext cx="2706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人工審核語音、人工開放認領、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商家自己回來重試——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AB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商家一個都看不到。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流程稽核結果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實測數字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7510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52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流程步驟總數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737360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0288" y="197510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852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商家能靠自己完成的步驟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（全部落在付款段）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1737360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11896" y="197510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852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（點下去無法前進）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8795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657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全程收到的通知則數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0248" y="3950208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0288" y="418795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50657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純人工關卡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（商家看不見）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91856" y="3950208"/>
            <a:ext cx="3447288" cy="1920240"/>
          </a:xfrm>
          <a:prstGeom prst="roundRect">
            <a:avLst>
              <a:gd name="adj" fmla="val 1905"/>
            </a:avLst>
          </a:prstGeom>
          <a:solidFill>
            <a:srgbClr val="F1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11896" y="418795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$3,800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50657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專業版年費 ／ 3 個景點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資料來源：2026/08/26–08/27 實測截圖 21 張（含後台 2 張）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步驟 ／ 6 個階段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流程全貌：斷點在哪裡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訂閱付款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287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0876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882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882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4894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89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找店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B325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06908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4914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491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89220" y="18288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自製內容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8922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8922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934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493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294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0946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094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49540" y="1828800"/>
            <a:ext cx="1842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　審核黑箱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4954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495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B325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0966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096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8972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B3251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8972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8298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　後台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8298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1F4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8298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30986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3098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78992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B3251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78992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20b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14300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　收尾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430000" y="228600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4300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31272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3268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965960" y="31272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BF0E6"/>
          </a:solidFill>
          <a:ln w="12700">
            <a:solidFill>
              <a:srgbClr val="C06A2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35000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0" y="31272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B3251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04164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死路：無法靠自己前進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1569"/>
            </a:avLst>
          </a:prstGeom>
          <a:solidFill>
            <a:srgbClr val="FBEBE9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68680" y="3968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三處死路 ＋ 一處 C 端連坐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868680" y="4416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1499616" y="44165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回到首頁地圖，找不到自己的店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868680" y="48188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1499616" y="481888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剛上傳成功的語音，在自己頁面上消失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868680" y="52212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1499616" y="522122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「未被認領」＋可點的按鈕，按下去說「不可被認領」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68680" y="5623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20b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499616" y="56235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遊客看到有語音，按播放卻被拒絕（C 端被連坐）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流程圖中沒有第 7 步——付款完成到下一個有意義的動作之間，產品沒有給出任何東西可以截圖。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訂閱付款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這一段商家可以靠自己完成，也是整段流程中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唯一不需要猜的部分——只花了 49 秒。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01 –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01 –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App → 我的 → 我的訂閱</a:t>
            </a:r>
            <a:endParaRPr lang="en-US" sz="2700" dirty="0"/>
          </a:p>
        </p:txBody>
      </p:sp>
      <p:pic>
        <p:nvPicPr>
          <p:cNvPr id="4" name="Image 0" descr="C:\Users\D1081493\AppData\Local\Temp\claude\C--Users-D1081493-Desktop-wmux-0-8-5\05788e44-933f-4ad6-bd87-31a70750e9ba\scratchpad\audit\img\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1708222" cy="37033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30352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地圖首頁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5742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與一般遊客看到的完全相同</a:t>
            </a:r>
            <a:endParaRPr lang="en-US" sz="1050" dirty="0"/>
          </a:p>
        </p:txBody>
      </p:sp>
      <p:pic>
        <p:nvPicPr>
          <p:cNvPr id="7" name="Image 1" descr="C:\Users\D1081493\AppData\Local\Temp\claude\C--Users-D1081493-Desktop-wmux-0-8-5\05788e44-933f-4ad6-bd87-31a70750e9ba\scratchpad\audit\img\s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00200"/>
            <a:ext cx="1708222" cy="37033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92608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我的頁面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2834640" y="5742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上傳語音 0 則、總播放 0 次</a:t>
            </a:r>
            <a:endParaRPr lang="en-US" sz="1050" dirty="0"/>
          </a:p>
        </p:txBody>
      </p:sp>
      <p:pic>
        <p:nvPicPr>
          <p:cNvPr id="10" name="Image 2" descr="C:\Users\D1081493\AppData\Local\Temp\claude\C--Users-D1081493-Desktop-wmux-0-8-5\05788e44-933f-4ad6-bd87-31a70750e9ba\scratchpad\audit\img\s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600200"/>
            <a:ext cx="1708222" cy="37033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5321808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我的訂閱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5230368" y="5742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「免費版」＋兩顆按鈕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863840" y="1600200"/>
            <a:ext cx="3749040" cy="1965960"/>
          </a:xfrm>
          <a:prstGeom prst="roundRect">
            <a:avLst>
              <a:gd name="adj" fmla="val 1860"/>
            </a:avLst>
          </a:prstGeom>
          <a:solidFill>
            <a:srgbClr val="F1F4F7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156448" y="180136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這三步本身還沒有問題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156448" y="2185416"/>
            <a:ext cx="31638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畫面都能運作，商家也找得到入口。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真正的斷點從第 4 步開始出現。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3794760"/>
            <a:ext cx="3749040" cy="2331720"/>
          </a:xfrm>
          <a:prstGeom prst="roundRect">
            <a:avLst>
              <a:gd name="adj" fmla="val 1569"/>
            </a:avLst>
          </a:prstGeom>
          <a:solidFill>
            <a:srgbClr val="FBF0E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183880" y="4014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但徵兆已經看得到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4434840"/>
            <a:ext cx="31089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「我的訂閱」整頁只有一行方案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名稱加兩顆按鈕，其餘全空白。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「檢視認領中的景點」在商家最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需要它的時候，必定是空的。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截圖時間 11:44　實測帳號 TszHong Yung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04　選擇訂閱方案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一進頁面，最便宜的方案就是殘缺的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08760"/>
            <a:ext cx="2066737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96112" y="2313432"/>
            <a:ext cx="93268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325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07792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入門版（1 點）只剩兩行，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名稱與價格在畫面外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508760"/>
            <a:ext cx="5806440" cy="1783080"/>
          </a:xfrm>
          <a:prstGeom prst="roundRect">
            <a:avLst>
              <a:gd name="adj" fmla="val 2051"/>
            </a:avLst>
          </a:prstGeom>
          <a:solidFill>
            <a:srgbClr val="FBF0E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17282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頁面初始捲動位置錯誤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148840"/>
            <a:ext cx="51663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進入「變更訂閱」時，畫面已經捲過第一個方案，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只剩「1 個景點／28 天免費試用」兩行。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最便宜的選項在預設視野裡是看不完整的。</a:t>
            </a:r>
            <a:endParaRPr lang="en-US" sz="1300" dirty="0"/>
          </a:p>
        </p:txBody>
      </p:sp>
      <p:pic>
        <p:nvPicPr>
          <p:cNvPr id="12" name="Image 1" descr="C:\Users\D1081493\AppData\Local\Temp\claude\C--Users-D1081493-Desktop-wmux-0-8-5\05788e44-933f-4ad6-bd87-31a70750e9ba\scratchpad\audit\img\c04_ter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611880"/>
            <a:ext cx="5806440" cy="457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13" name="Shape 9"/>
          <p:cNvSpPr/>
          <p:nvPr/>
        </p:nvSpPr>
        <p:spPr>
          <a:xfrm>
            <a:off x="5806440" y="4224528"/>
            <a:ext cx="5806440" cy="1901952"/>
          </a:xfrm>
          <a:prstGeom prst="roundRect">
            <a:avLst>
              <a:gd name="adj" fmla="val 1923"/>
            </a:avLst>
          </a:prstGeom>
          <a:solidFill>
            <a:srgbClr val="FBF0E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26480" y="444398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自動續訂條款被容器裁斷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864608"/>
            <a:ext cx="5166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「…除非在當前訂閱期結束前至少 24 小時關閉。付款將在確」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句子在這裡就沒了，上下也被切掉半個字高。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這不是排版瑕疵——是訂閱制商品的揭露義務問題，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也是 App Store 審核的常見退件點。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另：$3,800 的專業版預設已被勾選，而畫面上沒有任何標示指出使用者目前是免費版。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05 – 06　付款完成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付了錢，然後什麼都沒有發生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08760"/>
            <a:ext cx="2066737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7" name="Image 1" descr="C:\Users\D1081493\AppData\Local\Temp\claude\C--Users-D1081493-Desktop-wmux-0-8-5\05788e44-933f-4ad6-bd87-31a70750e9ba\scratchpad\audit\img\s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508760"/>
            <a:ext cx="2066737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74320" y="6016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「你的購買已成功」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651760" y="6016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回到「我的訂閱」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0" y="1508760"/>
            <a:ext cx="5806440" cy="2148840"/>
          </a:xfrm>
          <a:prstGeom prst="roundRect">
            <a:avLst>
              <a:gd name="adj" fmla="val 1702"/>
            </a:avLst>
          </a:prstGeom>
          <a:solidFill>
            <a:srgbClr val="FBF0E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26480" y="17282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按下「好」之後，回到原本的方案列表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148840"/>
            <a:ext cx="5166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沒有歡迎頁、沒有待辦清單、沒有「接下來要做什麼」。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整個漏斗最貴、使用者意願最高的那一格，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被完全浪費掉。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06440" y="3840480"/>
            <a:ext cx="5806440" cy="2286000"/>
          </a:xfrm>
          <a:prstGeom prst="roundRect">
            <a:avLst>
              <a:gd name="adj" fmla="val 1600"/>
            </a:avLst>
          </a:prstGeom>
          <a:solidFill>
            <a:srgbClr val="FBF0E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26480" y="405993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整頁唯一的變化：一行字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480560"/>
            <a:ext cx="5166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「免費版」→「專業版 (3 點)」。除此之外：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沒有點數餘額（買了 3 點，用掉幾點？）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沒有到期日、沒有下次扣款日與金額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 28 天試用的剩餘天數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沒有取消入口、沒有發票或收據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付了 $3,800／年的人，在 App 裡看不到自己何時會被扣款。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103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流程圖裡沒有第七步。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3474720"/>
            <a:ext cx="10607040" cy="1828800"/>
          </a:xfrm>
          <a:prstGeom prst="roundRect">
            <a:avLst>
              <a:gd name="adj" fmla="val 2000"/>
            </a:avLst>
          </a:prstGeom>
          <a:solidFill>
            <a:srgbClr val="2B3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379476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DDE4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實測者的截圖，從第 6 步直接跳到第 8 步。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這個空缺本身就是發現：付款完成到下一個有意義的動作之間，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產品沒有給出任何東西可以截圖。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找到自己的店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付費身分不會改變地圖上的任何東西。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商家必須自己把自己的店找出來。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08 – 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 ①　步驟 08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付費前與付費後的地圖，一模一樣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7" name="Image 1" descr="C:\Users\D1081493\AppData\Local\Temp\claude\C--Users-D1081493-Desktop-wmux-0-8-5\05788e44-933f-4ad6-bd87-31a70750e9ba\scratchpad\audit\img\s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00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付費前（步驟 01）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65176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付費後（步驟 08）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0" y="1554480"/>
            <a:ext cx="5806440" cy="2377440"/>
          </a:xfrm>
          <a:prstGeom prst="roundRect">
            <a:avLst>
              <a:gd name="adj" fmla="val 1538"/>
            </a:avLst>
          </a:prstGeom>
          <a:solidFill>
            <a:srgbClr val="FBEB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26480" y="177393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商家找不到自己的店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194560"/>
            <a:ext cx="5166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地圖上散落數個灰色 pin，沒有任何一個標示為「你的店」。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沒有自動定位到自己的景點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沒有「我的景點」入口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pin 沒有任何差別待遇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06440" y="4114800"/>
            <a:ext cx="5806440" cy="2011680"/>
          </a:xfrm>
          <a:prstGeom prst="roundRect">
            <a:avLst>
              <a:gd name="adj" fmla="val 1818"/>
            </a:avLst>
          </a:prstGeom>
          <a:solidFill>
            <a:srgbClr val="FBEBE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26480" y="433425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根因：訂閱綁帳號，內容綁景點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754880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系統從頭到尾不知道「這個付費帳號」和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「哪一間店」是同一件事。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後面所有的混亂，都源自這一點。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死路定義：使用者在此處無法靠產品本身的引導前進。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09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唯一的辦法：自己打字搜尋店名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2066737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86384" y="2212848"/>
            <a:ext cx="1911096" cy="301752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325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0" y="1554480"/>
            <a:ext cx="5806440" cy="2103120"/>
          </a:xfrm>
          <a:prstGeom prst="roundRect">
            <a:avLst>
              <a:gd name="adj" fmla="val 1739"/>
            </a:avLst>
          </a:prstGeom>
          <a:solidFill>
            <a:srgbClr val="FBF0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177393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商家只能用「搜尋景點」找自己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194560"/>
            <a:ext cx="5166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在搜尋框輸入「香記烤鴨」，紅色 pin 才出現。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這是商家找到自己店家的唯一路徑——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和一個完全沒付費的路人，用的是同一個功能。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3840480"/>
            <a:ext cx="5806440" cy="2286000"/>
          </a:xfrm>
          <a:prstGeom prst="roundRect">
            <a:avLst>
              <a:gd name="adj" fmla="val 1600"/>
            </a:avLst>
          </a:prstGeom>
          <a:solidFill>
            <a:srgbClr val="F1F4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99048" y="4041648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這個流程「應該」長什麼樣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99048" y="4425696"/>
            <a:ext cx="52212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付款完成 → 選擇你的店 → 綁定 → 進入商家後台。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目前的產品把這三件事全部省略，直接把商家丟回公用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地圖，讓他自己用搜尋功能找回自己。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訂閱資料與景點資料之間，沒有任何關聯被建立。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截圖時間 7:59　電量 36%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自製內容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付了 $3,800 之後，工作量不減反增。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錄音、文案、照片，全部由商家自己生產。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10 –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10 – 11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對付費商家，說著給遊客聽的話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7" name="Image 1" descr="C:\Users\D1081493\AppData\Local\Temp\claude\C--Users-D1081493-Desktop-wmux-0-8-5\05788e44-933f-4ad6-bd87-31a70750e9ba\scratchpad\audit\img\s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00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　景點頁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65176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　上傳音檔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0" y="1554480"/>
            <a:ext cx="5806440" cy="1600200"/>
          </a:xfrm>
          <a:prstGeom prst="roundRect">
            <a:avLst>
              <a:gd name="adj" fmla="val 2286"/>
            </a:avLst>
          </a:prstGeom>
          <a:solidFill>
            <a:srgbClr val="FBF0E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26480" y="177393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全 App 只有一種語氣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194560"/>
            <a:ext cx="5166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「這個地點目前還沒有語音導覽唷！」——剛付完 $3,800 的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商家，看到的是這句寫給觀光客的話。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06440" y="3337560"/>
            <a:ext cx="5806440" cy="1508760"/>
          </a:xfrm>
          <a:prstGeom prst="roundRect">
            <a:avLst>
              <a:gd name="adj" fmla="val 2424"/>
            </a:avLst>
          </a:prstGeom>
          <a:solidFill>
            <a:srgbClr val="FBF0E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26480" y="35570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規則出現在錯誤的時機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3977640"/>
            <a:ext cx="5166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「音檔時長至少 30 秒，且不得超過 5 分鐘」印在上傳按鈕的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下方。使用者是先錄完、先選完檔，才看到這條規則。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06440" y="5029200"/>
            <a:ext cx="5806440" cy="1097280"/>
          </a:xfrm>
          <a:prstGeom prst="roundRect">
            <a:avLst>
              <a:gd name="adj" fmla="val 3333"/>
            </a:avLst>
          </a:prstGeom>
          <a:solidFill>
            <a:srgbClr val="FBF0E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126480" y="524865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原始檔名未清洗直接外露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0" y="566928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Neo_渝函_預設-## 一隻烤.mp3　連檔名裡的「##」都照樣顯示。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一個付費商家與一個路人，在這兩個畫面上看到的內容完全相同。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12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決定金流的分岔，做成一個沒防呆的勾選框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2761488" cy="456285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22960" y="2907792"/>
            <a:ext cx="841248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325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0" y="1554480"/>
            <a:ext cx="7589520" cy="2148840"/>
          </a:xfrm>
          <a:prstGeom prst="roundRect">
            <a:avLst>
              <a:gd name="adj" fmla="val 1702"/>
            </a:avLst>
          </a:prstGeom>
          <a:solidFill>
            <a:srgbClr val="FBF0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43400" y="177393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商家要自己判斷「我算不算商家」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2194560"/>
            <a:ext cx="69494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「請先確認本地點屬於何種景點？」兩個外觀相同的方框：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一般景點／商家景點。勾選商家景點後才提示「需付費才能上架」。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一個直接決定要不要收費的分岔，被放在上傳音檔之後、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沒有防呆、沒有說明差異、也沒有預設判斷。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23360" y="3886200"/>
            <a:ext cx="7589520" cy="2240280"/>
          </a:xfrm>
          <a:prstGeom prst="roundRect">
            <a:avLst>
              <a:gd name="adj" fmla="val 1633"/>
            </a:avLst>
          </a:prstGeom>
          <a:solidFill>
            <a:srgbClr val="FBEB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41056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更關鍵：這裡跟第 5 步的付款完全沒有連動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4526280"/>
            <a:ext cx="69494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商家在第 5 步已經付過錢了。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系統卻在這裡再次告訴他「需付費才能上架該地點導覽語音」。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付款狀態、點數餘額、景點類型三者之間，沒有任何一條資料是通的。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商家如果誤勾「一般景點」，他剛付的 $3,800 在這條路徑上完全用不到。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13 – 14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$3,800 買到的東西，全部要自己做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7" name="Image 1" descr="C:\Users\D1081493\AppData\Local\Temp\claude\C--Users-D1081493-Desktop-wmux-0-8-5\05788e44-933f-4ad6-bd87-31a70750e9ba\scratchpad\audit\img\s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554480"/>
            <a:ext cx="1919113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9144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　自己寫文案、自己拍照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42316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　輸入內文送出（506／2047）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0" y="1554480"/>
            <a:ext cx="5806440" cy="2377440"/>
          </a:xfrm>
          <a:prstGeom prst="roundRect">
            <a:avLst>
              <a:gd name="adj" fmla="val 1538"/>
            </a:avLst>
          </a:prstGeom>
          <a:solidFill>
            <a:srgbClr val="FBEB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26480" y="177393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交付物 100% 由商家自己生產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194560"/>
            <a:ext cx="5166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錄音：商家自己錄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文案：商家自己寫（實測 506 字）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照片：商家自己拍、自己上傳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上架：還要等後台人工審核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認領：商家自己回來點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06440" y="4114800"/>
            <a:ext cx="5806440" cy="2011680"/>
          </a:xfrm>
          <a:prstGeom prst="roundRect">
            <a:avLst>
              <a:gd name="adj" fmla="val 1818"/>
            </a:avLst>
          </a:prstGeom>
          <a:solidFill>
            <a:srgbClr val="FBEBE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26480" y="433425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商業模式與產品交付互相矛盾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754880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收費 $3,800／年，而流程上完全看不出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這筆錢換到了什麼服務。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這會是商家投訴與退費的第一個切入點。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請對方在這 21 張截圖裡，指出哪一個畫面是這筆錢換來的東西。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審核黑箱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上傳成功之後，商家失去所有可見度：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不知道審核要多久，也不知道自己的東西還在不在。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15 –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15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沒有被解析，原始標記直接印出來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s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2670048" cy="448970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7" name="Image 1" descr="C:\Users\D1081493\AppData\Local\Temp\claude\C--Users-D1081493-Desktop-wmux-0-8-5\05788e44-933f-4ad6-bd87-31a70750e9ba\scratchpad\audit\img\c15_m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00200"/>
            <a:ext cx="7680960" cy="24688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852160" y="3566160"/>
            <a:ext cx="749808" cy="36576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3251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931920" y="4297680"/>
            <a:ext cx="3703320" cy="1828800"/>
          </a:xfrm>
          <a:prstGeom prst="roundRect">
            <a:avLst>
              <a:gd name="adj" fmla="val 2000"/>
            </a:avLst>
          </a:prstGeom>
          <a:solidFill>
            <a:srgbClr val="FBF0E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251960" y="4517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前後端沒有內容格式共識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251960" y="4937760"/>
            <a:ext cx="3063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後端存 Markdown、前端當純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文字輸出。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簡介印出「## 一隻烤鴨…」，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內文印出「**香記烤鴨**」。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09560" y="4297680"/>
            <a:ext cx="3703320" cy="1828800"/>
          </a:xfrm>
          <a:prstGeom prst="roundRect">
            <a:avLst>
              <a:gd name="adj" fmla="val 2000"/>
            </a:avLst>
          </a:prstGeom>
          <a:solidFill>
            <a:srgbClr val="FBF0E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0" y="4517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沒說審核要多久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937760"/>
            <a:ext cx="3063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「審核通過後即可上架」——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沒有預估時間、沒有進度、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沒有查詢入口、沒有通知。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對商家而言是完全的黑箱。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這個欄位從來沒有人定義過規格：誰負責存、誰負責 render、允不允許 Markdown。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 ②　步驟 16 – 17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剛上傳成功的語音，在自己的畫面上消失了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c16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4160520" cy="390448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713232" y="55961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實測者自己圈出那三個點，註記：「原來，商家要點右上角」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03520" y="1554480"/>
            <a:ext cx="6309360" cy="2240280"/>
          </a:xfrm>
          <a:prstGeom prst="roundRect">
            <a:avLst>
              <a:gd name="adj" fmla="val 1633"/>
            </a:avLst>
          </a:prstGeom>
          <a:solidFill>
            <a:srgbClr val="FBEB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23560" y="177393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上傳成功 → 回到景點頁 →「尚無語音導覽」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2194560"/>
            <a:ext cx="56692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後台看得到這筆資料，商家自己的畫面上卻沒有任何痕跡。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沒有「審核中」卡片、沒有灰色佔位、沒有狀態標籤。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使用者無法區分「審核中」與「上傳失敗」——會直接重傳。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3977640"/>
            <a:ext cx="6309360" cy="2148840"/>
          </a:xfrm>
          <a:prstGeom prst="roundRect">
            <a:avLst>
              <a:gd name="adj" fmla="val 1702"/>
            </a:avLst>
          </a:prstGeom>
          <a:solidFill>
            <a:srgbClr val="FBEB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23560" y="41970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付費功能的唯一入口，藏在右上角三個點裡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4617720"/>
            <a:ext cx="5669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「景點管理」沒有出現在「我的」頁面、沒有出現在訂閱頁，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也沒有出現在景點頁的主要區域。選單裡只有這一個選項。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截圖上那句「原來」，本身就是一次可用性測試的結論。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這一步會直接製造重複上傳與客服工單。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 ③　步驟 18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同一個畫面，自己跟自己矛盾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c18_e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54480"/>
            <a:ext cx="5321808" cy="453542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537960" y="1554480"/>
            <a:ext cx="5074920" cy="2103120"/>
          </a:xfrm>
          <a:prstGeom prst="roundRect">
            <a:avLst>
              <a:gd name="adj" fmla="val 1739"/>
            </a:avLst>
          </a:prstGeom>
          <a:solidFill>
            <a:srgbClr val="FBEBE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0" y="1792224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畫面說：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「目前未被認領」＋亮色可點的「我要認領」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按下去說：</a:t>
            </a:r>
            <a:endParaRPr lang="en-US" sz="13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「該景點目前不可被認領」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3840480"/>
            <a:ext cx="5074920" cy="1188720"/>
          </a:xfrm>
          <a:prstGeom prst="roundRect">
            <a:avLst>
              <a:gd name="adj" fmla="val 3077"/>
            </a:avLst>
          </a:prstGeom>
          <a:solidFill>
            <a:srgbClr val="FBEBE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40599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前端沒拿真實狀態就把按鈕點亮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4805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disable、沒有灰階、沒有說明，直接交給後端去擋。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37960" y="5166360"/>
            <a:ext cx="5074920" cy="960120"/>
          </a:xfrm>
          <a:prstGeom prst="roundRect">
            <a:avLst>
              <a:gd name="adj" fmla="val 3810"/>
            </a:avLst>
          </a:prstGeom>
          <a:solidFill>
            <a:srgbClr val="FBEB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0" y="538581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錯誤訊息不說原因也不說下一步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806440"/>
            <a:ext cx="4434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為什麼？要等什麼？等多久？找誰？一個字都沒有。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最典型的「前端不 disable、後端才擋」寫法。使用者被騙點一次，換來一則無用的紅色橫幅。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後台與收尾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真正的關卡在商家看不到的地方：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兩個人工開關，決定他的付費功能能不能用。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19 –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19 vs 20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後台兩張表，對不起來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語音管理：已上架、審核完成</a:t>
            </a:r>
            <a:endParaRPr lang="en-US" sz="1300" dirty="0"/>
          </a:p>
        </p:txBody>
      </p:sp>
      <p:pic>
        <p:nvPicPr>
          <p:cNvPr id="7" name="Image 0" descr="C:\Users\D1081493\AppData\Local\Temp\claude\C--Users-D1081493-Desktop-wmux-0-8-5\05788e44-933f-4ad6-bd87-31a70750e9ba\scratchpad\audit\img\c19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10512"/>
            <a:ext cx="10881360" cy="186537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713232" y="3913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景點管理：同一間店，語音數量 0、收聽數 0</a:t>
            </a:r>
            <a:endParaRPr lang="en-US" sz="1300" dirty="0"/>
          </a:p>
        </p:txBody>
      </p:sp>
      <p:pic>
        <p:nvPicPr>
          <p:cNvPr id="9" name="Image 1" descr="C:\Users\D1081493\AppData\Local\Temp\claude\C--Users-D1081493-Desktop-wmux-0-8-5\05788e44-933f-4ad6-bd87-31a70750e9ba\scratchpad\audit\img\c20_z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61104"/>
            <a:ext cx="5120640" cy="133502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6172200" y="4261104"/>
            <a:ext cx="5440680" cy="1828800"/>
          </a:xfrm>
          <a:prstGeom prst="roundRect">
            <a:avLst>
              <a:gd name="adj" fmla="val 2000"/>
            </a:avLst>
          </a:prstGeom>
          <a:solidFill>
            <a:srgbClr val="FBEB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92240" y="44805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同一份資料，兩個模組讀出兩種結果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901184"/>
            <a:ext cx="4800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端顯示「尚無語音導覽」，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極可能就是讀到這個 0。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後台自己都不知道這間店有沒有語音。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兩張截圖來自同一個後台、同一個時間點、同一筆景點「香記烤鴨」。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20 – 21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能不能用付費功能，取決於有沒有人記得撥開關</a:t>
            </a:r>
            <a:endParaRPr lang="en-US" sz="2700" dirty="0"/>
          </a:p>
        </p:txBody>
      </p:sp>
      <p:pic>
        <p:nvPicPr>
          <p:cNvPr id="6" name="Image 0" descr="C:\Users\D1081493\AppData\Local\Temp\claude\C--Users-D1081493-Desktop-wmux-0-8-5\05788e44-933f-4ad6-bd87-31a70750e9ba\scratchpad\audit\img\c20_to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72768"/>
            <a:ext cx="3931920" cy="1965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713232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後台的「是否開放認領」——一個純人工開關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0" y="1572768"/>
            <a:ext cx="6583680" cy="2103120"/>
          </a:xfrm>
          <a:prstGeom prst="roundRect">
            <a:avLst>
              <a:gd name="adj" fmla="val 1739"/>
            </a:avLst>
          </a:prstGeom>
          <a:solidFill>
            <a:srgbClr val="FBEB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49240" y="17922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主線由三個純人工關卡串起來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212848"/>
            <a:ext cx="5943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人工審核語音　② 人工打開「是否開放認領」　③ 商家自己回來重試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沒有排程、沒有 SLA、沒有對外揭露，也沒有任何畫面告訴商家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「你現在卡在第幾關」。</a:t>
            </a:r>
            <a:endParaRPr lang="en-US" sz="1300" dirty="0"/>
          </a:p>
        </p:txBody>
      </p:sp>
      <p:pic>
        <p:nvPicPr>
          <p:cNvPr id="11" name="Image 1" descr="C:\Users\D1081493\AppData\Local\Temp\claude\C--Users-D1081493-Desktop-wmux-0-8-5\05788e44-933f-4ad6-bd87-31a70750e9ba\scratchpad\audit\img\c21_cla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977640"/>
            <a:ext cx="2487168" cy="213055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3520440" y="3977640"/>
            <a:ext cx="8092440" cy="2130552"/>
          </a:xfrm>
          <a:prstGeom prst="roundRect">
            <a:avLst>
              <a:gd name="adj" fmla="val 1717"/>
            </a:avLst>
          </a:prstGeom>
          <a:solidFill>
            <a:srgbClr val="FBEBE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840480" y="4197096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開關撥開了，但商家沒有收到任何通知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840480" y="4617720"/>
            <a:ext cx="7452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沒有推播　✕ 沒有 Email　✕ 沒有站內信　✕ 沒有紅點　✕ 沒有待辦中心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付款成功、審核完成、開放認領、認領成功——四個關鍵狀態變化，商家收到 0 則通知。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實測者的註記：「商家終於能認領，但沒有收到任何通知，只能憑感覺、靠運氣。」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這不是產品流程，是把人力流程外包給了付費客戶。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 ④　步驟 20b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遊客看得到語音，但按下去不給聽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490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遊客看到：有封面、有時長、有標題、有作者</a:t>
            </a:r>
            <a:endParaRPr lang="en-US" sz="1250" dirty="0"/>
          </a:p>
        </p:txBody>
      </p:sp>
      <p:pic>
        <p:nvPicPr>
          <p:cNvPr id="7" name="Image 0" descr="C:\Users\D1081493\AppData\Local\Temp\claude\C--Users-D1081493-Desktop-wmux-0-8-5\05788e44-933f-4ad6-bd87-31a70750e9ba\scratchpad\audit\img\c20b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28800"/>
            <a:ext cx="6583680" cy="13167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713232" y="3364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按下播放：</a:t>
            </a:r>
            <a:endParaRPr lang="en-US" sz="1250" dirty="0"/>
          </a:p>
        </p:txBody>
      </p:sp>
      <p:pic>
        <p:nvPicPr>
          <p:cNvPr id="9" name="Image 1" descr="C:\Users\D1081493\AppData\Local\Temp\claude\C--Users-D1081493-Desktop-wmux-0-8-5\05788e44-933f-4ad6-bd87-31a70750e9ba\scratchpad\audit\img\c20b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703320"/>
            <a:ext cx="6583680" cy="239572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7680960" y="1490472"/>
            <a:ext cx="3931920" cy="2377440"/>
          </a:xfrm>
          <a:prstGeom prst="roundRect">
            <a:avLst>
              <a:gd name="adj" fmla="val 1538"/>
            </a:avLst>
          </a:prstGeom>
          <a:solidFill>
            <a:srgbClr val="FBEB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01000" y="17099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端被內部流程連坐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2130552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「此景點未被管理，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無法播放錄音」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——這是給一般遊客看的訊息。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一個他完全無法理解、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也完全無法解決的內部狀態。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80960" y="4050792"/>
            <a:ext cx="3931920" cy="2048256"/>
          </a:xfrm>
          <a:prstGeom prst="roundRect">
            <a:avLst>
              <a:gd name="adj" fmla="val 1786"/>
            </a:avLst>
          </a:prstGeom>
          <a:solidFill>
            <a:srgbClr val="FBEBE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001000" y="42702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壞得比「暫無內容」更難看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001000" y="469087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不是沒東西，是有東西但不給聽。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商家付了錢，成果對外卻是壞的，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而且壞在一個他沒辦法解釋給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客人聽的理由上。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同時傷害 C 端體驗與 B 端信任——這是唯一一個會擴散到付費客戶之外的問題。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三個層級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問題清單與責任歸屬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7288" cy="4572000"/>
          </a:xfrm>
          <a:prstGeom prst="roundRect">
            <a:avLst>
              <a:gd name="adj" fmla="val 1061"/>
            </a:avLst>
          </a:prstGeom>
          <a:solidFill>
            <a:srgbClr val="F1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739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一、工程實作缺陷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214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責任：前端／後端／QA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2374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按鈕可點但後端拒絕（18）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84835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8483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後台兩張表資料不一致（19↔20）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729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上傳後沒有「審核中」狀態（16）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49758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34975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未解析（15）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82219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續訂條款顯示不全（4）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1468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41468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錯誤訊息不說原因（18、20b）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47141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35024" y="4471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方案頁初始捲動位置錯誤（4）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7960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47960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「回復購買」幾乎不可見（4）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206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335024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上傳檔名未清洗（11）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54452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54452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「取消認領」無二次確認（21）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7698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335024" y="5769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營運後台掛 dev-1.0.0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70248" y="1600200"/>
            <a:ext cx="3447288" cy="4572000"/>
          </a:xfrm>
          <a:prstGeom prst="roundRect">
            <a:avLst>
              <a:gd name="adj" fmla="val 1061"/>
            </a:avLst>
          </a:prstGeom>
          <a:solidFill>
            <a:srgbClr val="F1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26280" y="17739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二、產品設計缺失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21214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責任：PM／設計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252374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056632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付款成功後零引導（5→8）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284835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56632" y="28483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訂閱綁帳號、內容綁景點，兩者不通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26280" y="31729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56632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「認領」這個步驟不該存在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349758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56632" y="34975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「點數」從未被定義也未被顯示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382219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056632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訂閱頁缺到期日／扣款日／取消入口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26280" y="41468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056632" y="41468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唯一商家入口藏在三個點裡（16）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26280" y="447141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056632" y="4471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「檢視認領中的景點」必定是空的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26280" y="479602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056632" y="47960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 0 則通知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26280" y="51206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056632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商家與遊客共用同一套文案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26280" y="54452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056632" y="54452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金流分岔做成無防呆勾選框（12）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26280" y="57698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待改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5056632" y="5769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音檔規則出現在錯誤時機（11）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991856" y="1600200"/>
            <a:ext cx="3447288" cy="4572000"/>
          </a:xfrm>
          <a:prstGeom prst="roundRect">
            <a:avLst>
              <a:gd name="adj" fmla="val 1061"/>
            </a:avLst>
          </a:prstGeom>
          <a:solidFill>
            <a:srgbClr val="F1F4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47888" y="17739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三、流程與管理層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8247888" y="21214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責任：公司／專案管理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247888" y="252374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877824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主線三個人工關卡，商家全看不到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247888" y="284835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778240" y="28483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端被內部流程連坐（20b）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247888" y="31729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778240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商業模式與交付互相矛盾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247888" y="349758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致命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8778240" y="34975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這條主線沒有被內部走過一次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8247888" y="382219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877824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步裡商家只能獨立完成 5 步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247888" y="41468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8778240" y="41468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三處死路都在主線必經節點上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247888" y="4617720"/>
            <a:ext cx="3044952" cy="1280160"/>
          </a:xfrm>
          <a:prstGeom prst="roundRect">
            <a:avLst>
              <a:gd name="adj" fmla="val 2857"/>
            </a:avLst>
          </a:prstGeom>
          <a:solidFill>
            <a:srgbClr val="FBEBE9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485632" y="47731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缺的不是工程能力，是驗收。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8、16、18 步的問題，只要有人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實際付一次錢走一次，就不可能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看不到。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括號內數字為對應的流程步驟編號。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可以直接問對方的三個問題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沒有一個需要技術背景，也沒有一個能用「這是小 bug，之後修」帶過。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0607040" cy="1280160"/>
          </a:xfrm>
          <a:prstGeom prst="roundRect">
            <a:avLst>
              <a:gd name="adj" fmla="val 2857"/>
            </a:avLst>
          </a:prstGeom>
          <a:solidFill>
            <a:srgbClr val="2B3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719072" y="210312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上線之前，團隊裡有沒有任何一個人，以商家身分、用自己的信用卡，從付款一路走到語音真的能被播放？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26700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如果有，第 8、16、18 步不可能長這樣。如果沒有，問題就不在工程師身上，而在誰該負責驗收這條路徑。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10607040" cy="1280160"/>
          </a:xfrm>
          <a:prstGeom prst="roundRect">
            <a:avLst>
              <a:gd name="adj" fmla="val 2857"/>
            </a:avLst>
          </a:prstGeom>
          <a:solidFill>
            <a:srgbClr val="2B3A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356616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「認領」這個步驟是為了解決什麼問題？它為什麼不能在付款完成的當下自動完成？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19072" y="41330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如果答案是「防止有人亂認領別人的店」，那該做的是身分驗證，不是把一個需要後台手動開關的按鈕丟給付費客戶自己猜。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846320"/>
            <a:ext cx="10607040" cy="1280160"/>
          </a:xfrm>
          <a:prstGeom prst="roundRect">
            <a:avLst>
              <a:gd name="adj" fmla="val 2857"/>
            </a:avLst>
          </a:prstGeom>
          <a:solidFill>
            <a:srgbClr val="2B3A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0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1719072" y="5029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商家付的 $3,800，買到的交付物具體是哪一個畫面？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719072" y="55961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錄音自己錄、文案自己寫、照片自己拍、認領自己點。請對方在這 21 張截圖裡指出來。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21 步的流程圖，是使用者第一次幫這個團隊走完的。缺的不是工程能力，是驗收。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附錄：地圖服務評估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先列出商家在前台實際怎麼操作，再看換 OSM 哪一步會不同。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結論：12 步裡只有 2 步真的碰到 Google。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追加評估 ・ 第二版 ・ 2026.08.28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評估方法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先修正前一版的框架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1702"/>
            </a:avLst>
          </a:prstGeom>
          <a:solidFill>
            <a:srgbClr val="FBF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96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前一版把影響範圍講得太大了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463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第一版整份架在「景點主鍵可能是 place_id」這個假設上，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結論寫成「這不是換底圖，是換資料庫」。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主鍵那一題仍然是真的、也仍然要問——但它是一項有界的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工程任務，不是整條流程都建在 Google 上。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413308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這一版改用逐步標記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17136"/>
            <a:ext cx="49011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把商家在前台實際的每一步列出來，各自標記：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這一步確定是 ResoMap 自己的資料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這一步依賴 Google 地點搜尋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這一步從前台無法確認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換 OSM 後這一步會有什麼不同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1F4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 自己的商業流程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 OSM 完全不變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600200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真正依賴 Google 地點搜尋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會變的就這兩步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67912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142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010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目前不存在、換 OSM 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必須補上的一步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0" y="3867912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1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41422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5010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從前台無法確認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需工程師回覆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訂閱、圖片、文案、語音、送審、審核、上架這些本來就是 ResoMap 自己的東西，換地圖服務動不到它們。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依實際操作順序，非產品文件順序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前台實測流程，逐步標記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329184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53619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536192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前台實際操作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22776" y="153619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837176" y="1536192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歸屬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153619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 OSM 之後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65376"/>
            <a:ext cx="11064240" cy="35295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865376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1865376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訂閱付款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865376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3–6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18888" y="1915668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1915668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65376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 Apple 內購，與地圖無關。完全不變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218334"/>
            <a:ext cx="11064240" cy="352958"/>
          </a:xfrm>
          <a:prstGeom prst="rect">
            <a:avLst/>
          </a:prstGeom>
          <a:solidFill>
            <a:srgbClr val="FBEB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218334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2218334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搜尋店家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2218334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2268626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FBEBE9"/>
          </a:solidFill>
          <a:ln w="9525">
            <a:solidFill>
              <a:srgbClr val="B325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18888" y="2268626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 Google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2218334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會變：台灣小型商家搜不到的比例明顯上升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2571293"/>
            <a:ext cx="11064240" cy="352958"/>
          </a:xfrm>
          <a:prstGeom prst="rect">
            <a:avLst/>
          </a:prstGeom>
          <a:solidFill>
            <a:srgbClr val="FBEB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571293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2571293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找到店家：帶出店名地址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571293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18888" y="2621585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FBEBE9"/>
          </a:solidFill>
          <a:ln w="9525">
            <a:solidFill>
              <a:srgbClr val="B325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18888" y="2621585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 Google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2571293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會變：地址常缺門牌或缺里，要讓商家能補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2924251"/>
            <a:ext cx="11064240" cy="352958"/>
          </a:xfrm>
          <a:prstGeom prst="rect">
            <a:avLst/>
          </a:prstGeom>
          <a:solidFill>
            <a:srgbClr val="E5EAF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2924251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" y="2924251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建立景點／商家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886200" y="2924251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目前沒有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8888" y="2974543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5EAF3"/>
          </a:solidFill>
          <a:ln w="9525">
            <a:solidFill>
              <a:srgbClr val="2F4A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18888" y="2974543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目前不存在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2924251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要新增：搜不到 → 手動輸入 → 地圖選點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277210"/>
            <a:ext cx="11064240" cy="35295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3277210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" y="3277210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選景點類型（一般／商家）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886200" y="3277210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3327502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18888" y="3327502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437376" y="3277210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自家商業規則。不變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630168"/>
            <a:ext cx="11064240" cy="35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" y="3630168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" y="3630168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上傳語音檔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3886200" y="3630168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18888" y="3680460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18888" y="3680460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37376" y="3630168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自家儲存與時長規則。不變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3983126"/>
            <a:ext cx="11064240" cy="35295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0080" y="3983126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33856" y="3983126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上傳導覽配圖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3886200" y="3983126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18888" y="4033418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18888" y="4033418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437376" y="3983126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商家自己拍、自己傳。不變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4336085"/>
            <a:ext cx="11064240" cy="35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40080" y="4336085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133856" y="4336085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填寫名稱與介紹文案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3886200" y="4336085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13–14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18888" y="4386377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818888" y="4386377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437376" y="4336085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商家自己寫（實測 506 字）。不變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48640" y="4689043"/>
            <a:ext cx="11064240" cy="35295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40080" y="4689043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133856" y="4689043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3886200" y="4689043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18888" y="4739335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818888" y="4739335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6437376" y="4689043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不變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48640" y="5042002"/>
            <a:ext cx="11064240" cy="35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40080" y="5042002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1133856" y="5042002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後台審核通過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3886200" y="5042002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19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18888" y="5092294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818888" y="5092294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6437376" y="5042002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不變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48640" y="5394960"/>
            <a:ext cx="11064240" cy="35295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40080" y="5394960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133856" y="5394960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後台開放認領 → 商家認領</a:t>
            </a:r>
            <a:endParaRPr lang="en-US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3886200" y="5394960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20–21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818888" y="5445252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FBF0E6"/>
          </a:solidFill>
          <a:ln w="9525">
            <a:solidFill>
              <a:srgbClr val="C06A22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818888" y="5445252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ResoMap／待確認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6437376" y="5394960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綁自家 ID 就不變；綁 place_id 要重新對應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48640" y="5747918"/>
            <a:ext cx="11064240" cy="35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40080" y="5747918"/>
            <a:ext cx="3108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1133856" y="5747918"/>
            <a:ext cx="25694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前台顯示與播放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3886200" y="5747918"/>
            <a:ext cx="7680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20b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818888" y="5798210"/>
            <a:ext cx="1325880" cy="252374"/>
          </a:xfrm>
          <a:prstGeom prst="roundRect">
            <a:avLst>
              <a:gd name="adj" fmla="val 7246"/>
            </a:avLst>
          </a:prstGeom>
          <a:solidFill>
            <a:srgbClr val="E4EFE8"/>
          </a:solidFill>
          <a:ln w="9525">
            <a:solidFill>
              <a:srgbClr val="235F45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818888" y="5798210"/>
            <a:ext cx="1325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6437376" y="5747918"/>
            <a:ext cx="508406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由認領狀態決定，自家邏輯。不變</a:t>
            </a:r>
            <a:endParaRPr lang="en-US" sz="1050" dirty="0"/>
          </a:p>
        </p:txBody>
      </p:sp>
      <p:sp>
        <p:nvSpPr>
          <p:cNvPr id="94" name="Text 9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順帶一個發現：認領是第 11 步，不是第 4 步——排在上傳、送審、後台審核全部做完之後，跟直覺完全相反。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B325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版真正的問題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新開的店，現在根本進不來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1234440"/>
          </a:xfrm>
          <a:prstGeom prst="roundRect">
            <a:avLst>
              <a:gd name="adj" fmla="val 2963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一家上個月才開的餐廳，想付錢做語音導覽——但他做不到。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 ResoMap 的第 2 步是搜 Google。Google 還沒收錄這家店，所以商家在 ResoMap 裡搜不到自己，整條付費流程從第 2 步就走不下去。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066544" cy="1874520"/>
          </a:xfrm>
          <a:prstGeom prst="roundRect">
            <a:avLst>
              <a:gd name="adj" fmla="val 1951"/>
            </a:avLst>
          </a:prstGeom>
          <a:solidFill>
            <a:srgbClr val="F1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529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餐廳新開幕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4114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最需要曝光、最願意付錢做導覽的時候。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79776" y="3063240"/>
            <a:ext cx="2066544" cy="1874520"/>
          </a:xfrm>
          <a:prstGeom prst="roundRect">
            <a:avLst>
              <a:gd name="adj" fmla="val 1951"/>
            </a:avLst>
          </a:prstGeom>
          <a:solidFill>
            <a:srgbClr val="FBEB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9232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3529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 搜不到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4114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 Google 上還沒有這個地點。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10912" y="3063240"/>
            <a:ext cx="2066544" cy="1874520"/>
          </a:xfrm>
          <a:prstGeom prst="roundRect">
            <a:avLst>
              <a:gd name="adj" fmla="val 1951"/>
            </a:avLst>
          </a:prstGeom>
          <a:solidFill>
            <a:srgbClr val="F1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30368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529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先去登錄 Google 商家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4114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填資料、等審核、可能要驗證明信片。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3063240"/>
            <a:ext cx="2066544" cy="1874520"/>
          </a:xfrm>
          <a:prstGeom prst="roundRect">
            <a:avLst>
              <a:gd name="adj" fmla="val 1951"/>
            </a:avLst>
          </a:prstGeom>
          <a:solidFill>
            <a:srgbClr val="F1F4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61504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529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 Google 通過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4114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數天到數週，而且不保證會過。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73184" y="3063240"/>
            <a:ext cx="2066544" cy="1874520"/>
          </a:xfrm>
          <a:prstGeom prst="roundRect">
            <a:avLst>
              <a:gd name="adj" fmla="val 1951"/>
            </a:avLst>
          </a:prstGeom>
          <a:solidFill>
            <a:srgbClr val="F1F4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529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才回來用 ResoMap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1148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如果那時候他還記得、還想付這筆錢。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38928"/>
            <a:ext cx="11064240" cy="987552"/>
          </a:xfrm>
          <a:prstGeom prst="roundRect">
            <a:avLst>
              <a:gd name="adj" fmla="val 3704"/>
            </a:avLst>
          </a:prstGeom>
          <a:solidFill>
            <a:srgbClr val="FBEB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35838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 現在的獲客資格，是由 Google 決定的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779008"/>
            <a:ext cx="10424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平台不能自己決定要服務誰——只能服務「已經被 Google 收錄的店」。而新開幕的店，正是最想曝光的客群。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這是目前就在發生的商業損失，不是遷移之後才會有的風險。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每一種都會踩到，不是邊緣情況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現在有哪些客群進不來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65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8653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新開幕的店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677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還沒收錄，最想曝光的客群反而被擋在門外。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865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18653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夜市攤位、市場攤商、路邊小店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31152" y="22677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很多根本不會出現在 Google Places。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832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改過名的店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856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還是舊招牌，商家在 ResoMap 搜到的是自己的舊名字。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163824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33832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搬過家的店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37856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地址是舊的，帶進 ResoMap 的地址也跟著錯，而商家改不掉。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901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9011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沒有店面的景點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303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廟宇分殿、私人園區、步道涼亭、地方故事點位常常沒有。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681728"/>
            <a:ext cx="5394960" cy="1353312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901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49011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上重複或錯誤的 POI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5303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商家認領到錯的那一個，而平台沒有工具能修。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這些正好是最需要語音導覽、也最沒有其他曝光管道的客群。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大部分不是變好一點，是從不可能變成可能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 OSM 有哪些好處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482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可以自己建立地點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允許任何人新增節點。可以做成「搜不到 → 手動輸入 → 地圖選點 → 建立商家」，當場把人留住。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627632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482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新開的店當天就能上架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7744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不用等 Google 審核、不用等明信片驗證。開幕當天就能買訂閱、上傳語音。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91856" y="1627632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7888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0482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資料錯了可以自己修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37744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店名改了、搬家了、少了門牌，平台自己就能改，客服終於有工具處理。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6210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沒有查詢配額與費用壓力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9502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Places Text Search 是帳單最貴的一項，又在最高頻路徑上。沒有計費壓力後，搜尋能做得更好用。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200400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6210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資料可以合法留在自己手上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9502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條款限制快取 Places 內容、也限制顯示在非 Google 底圖上。目前的用法值得法務看一眼。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91856" y="3200400"/>
            <a:ext cx="3447288" cy="1417320"/>
          </a:xfrm>
          <a:prstGeom prst="roundRect">
            <a:avLst>
              <a:gd name="adj" fmla="val 2581"/>
            </a:avLst>
          </a:prstGeom>
          <a:solidFill>
            <a:srgbClr val="E4EF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47888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47888" y="36210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商家補的資料變成平台資產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39502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累積下來就是一份 Google 沒有的在地 POI 庫——攤商、小店、地方景點，正好是 Google 覆蓋最差的類別。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28032"/>
            <a:ext cx="5394960" cy="1298448"/>
          </a:xfrm>
          <a:prstGeom prst="roundRect">
            <a:avLst>
              <a:gd name="adj" fmla="val 2817"/>
            </a:avLst>
          </a:prstGeom>
          <a:solidFill>
            <a:srgbClr val="FBF0E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974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　OSM 的弱項要誠實承認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2852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台灣道路與門牌不差，弱的是商家 POI 與部分中文標註。底圖會比 Google 空、公車站圖層要自己接、導航跳轉沒有對等替代。但商家 POI 正好是 01、06 可以自己補的。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828032"/>
            <a:ext cx="5394960" cy="1298448"/>
          </a:xfrm>
          <a:prstGeom prst="roundRect">
            <a:avLst>
              <a:gd name="adj" fmla="val 2817"/>
            </a:avLst>
          </a:prstGeom>
          <a:solidFill>
            <a:srgbClr val="FBF0E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974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　ODbL 不等於無條件免費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52852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採 ODbL，有 share-alike 義務。若把 OSM 資料與自家資料合併成衍生資料庫，可能被要求以同樣授權釋出。換之前要先確認資料模型。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好處集中在「搜不到就自己建」這一件事上——它把一條目前完全走不通的路打開。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前一版列了八題，逐步標記之後只剩四題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從前台無法確認、需要工程師回覆的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BEB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81051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步的搜尋框，打的是 Google Places 還是自家景點資料庫？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9456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實測時搜到的店還沒有任何語音內容，看起來是 Google。確認後第 2、3 步的判斷才算定案。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BEB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9626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443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11 步的認領，綁定的是 Google place_id 還是自家 ID？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284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這是主鍵那一題唯一真正落地的地方。綁自家 ID 就只是換搜尋來源；綁 place_id 才要重新對應。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096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0782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店名與地址是搜尋當下存進資料庫，還是每次即時打 API？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6227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存起來的話舊資料可以原地保留，只有新建的走 OSM；即時打的話換掉當天全部景點一起變。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52303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120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首頁的「顯示周邊景點」打 Nearby Search，還是查自家座標範圍？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59612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後者幾乎零遷移成本，前者要重做。這是除了搜尋以外唯一可能還藏著 Google 呼叫的地方。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紅底兩題是前提：只要這兩題有答案，遷移範圍就能算得出來。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 真正的產品是語音導覽，</a:t>
            </a:r>
            <a:endParaRPr lang="en-US" sz="3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地點只是掛語音的鉤子。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3291840" cy="1965960"/>
          </a:xfrm>
          <a:prstGeom prst="roundRect">
            <a:avLst>
              <a:gd name="adj" fmla="val 1860"/>
            </a:avLst>
          </a:prstGeom>
          <a:solidFill>
            <a:srgbClr val="2B3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D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不會變的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675888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訂閱、圖片、文案、語音、送審、審核、認領、上架——這九步是 ResoMap 的商業流程，換地圖服務動不到它們。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3108960"/>
            <a:ext cx="3291840" cy="1965960"/>
          </a:xfrm>
          <a:prstGeom prst="roundRect">
            <a:avLst>
              <a:gd name="adj" fmla="val 1860"/>
            </a:avLst>
          </a:prstGeom>
          <a:solidFill>
            <a:srgbClr val="2B3A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172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675888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只有「怎麼找到或建立一個地點」這件事。底圖會空一點、地址品質要靠自己補、要新增一個手動建立地點的流程。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3108960"/>
            <a:ext cx="3291840" cy="1965960"/>
          </a:xfrm>
          <a:prstGeom prst="roundRect">
            <a:avLst>
              <a:gd name="adj" fmla="val 1860"/>
            </a:avLst>
          </a:prstGeom>
          <a:solidFill>
            <a:srgbClr val="2B3A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9360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換來的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3675888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「搜不到就自己建」——把一條目前完全走不通的路打開。新開幕的店、夜市攤位、地方景點，終於收得了。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4348"/>
            </a:avLst>
          </a:prstGeom>
          <a:solidFill>
            <a:srgbClr val="3A24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5468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目前把「找到地點」外包給 Google 的代價，不是底圖好不好看，是平台不能決定自己要服務誰。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2910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本版依陳醫師的方法重做，取代第一版以「主鍵風險」為主軸的框架。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ResoMap 商家訂閱流程稽核</dc:title>
  <dc:subject>PptxGenJS Presentation</dc:subject>
  <dc:creator>Product Audit</dc:creator>
  <cp:lastModifiedBy>Product Audit</cp:lastModifiedBy>
  <cp:revision>1</cp:revision>
  <dcterms:created xsi:type="dcterms:W3CDTF">2026-08-28T07:52:21Z</dcterms:created>
  <dcterms:modified xsi:type="dcterms:W3CDTF">2026-08-28T07:52:21Z</dcterms:modified>
</cp:coreProperties>
</file>