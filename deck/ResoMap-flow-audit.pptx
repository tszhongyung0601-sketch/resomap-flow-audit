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這是一份以商家視角實測的流程稽核。全程 21 步，付款只佔 5 步，其餘都需要商家自己猜或自己等。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核心問題不是某個 bug，是付費與交付之間沒有產品路徑。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 步裡，商家能獨立完成的只有付款那 5 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三處死路都不是邊緣情境，而是主線上的必經節點。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前三步沒有明顯問題，但「我的訂閱」頁的資訊密度已經接近零。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條款顯示不全是合規問題，不是美觀問題。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付款成功是使用者意願最高的一刻，這個產品在這裡什麼都沒做。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缺的這一步，正是產品該做 onboarding 的位置。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這是全流程最根本的問題：付費身分在產品裡不存在。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搜尋自己的店，是這個流程最荒謬也最有代表性的一步。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商家視角在這個產品裡不存在，只有一套給遊客的文案。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這一步暴露了付款狀態沒有回流到產品流程裡。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這一頁是跟老闆談判時最有力的一頁。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Markdown 未解析是低成本高可見度的缺陷，代表沒有基本的驗收。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「原來」兩個字就是可用性測試的結果，不需要再另外做測試。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這一頁可以直接拿去對工程師談，責任非常明確。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這是可以直接驗證的資料一致性缺陷。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零通知是這條流程最不可辯解的一點。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這一點會影響品牌，不只是影響單一商家。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第三欄才是這份稽核真正的重點——缺的不是工程能力，是驗收。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用這三個問題收尾，對方無法用技術細節迴避。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先把結論放前面：這不是換底圖的問題。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這張表就是群組要的「操作流程列出來」。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A2 最致命：商家搜不到自己，整條付費流程就斷了。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C2 是最容易被忽略的：目前的用法本身可能就有條款風險。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把這八題直接貼到群組，比繼續討論 OSM 好不好用有效得多。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地圖只是這條鏈上最外面、也最容易被看見的一環。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686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RESOMAP　／　商家訂閱流程稽核　／　2026.08.27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7498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商家付了三千八，</a:t>
            </a:r>
            <a:endParaRPr lang="en-US" sz="48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然後被留在原地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777240" y="3794760"/>
            <a:ext cx="1371600" cy="36576"/>
          </a:xfrm>
          <a:prstGeom prst="rect">
            <a:avLst/>
          </a:prstGeom>
          <a:solidFill>
            <a:srgbClr val="E09A5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11480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B8C2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以商家身分實際走完「訂閱付款 → 語音上線」全流程，共 21 個步驟。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付款只花 49 秒，之後的每一步都在猜、或在等。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58064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8A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實測店家「香記烤鴨」（台中南區台中路 252 號）　後台 backend.resomap.app・dev-1.0.0</a:t>
            </a:r>
            <a:endParaRPr lang="en-US" sz="1050" dirty="0"/>
          </a:p>
        </p:txBody>
      </p:sp>
      <p:pic>
        <p:nvPicPr>
          <p:cNvPr id="7" name="Image 0" descr="C:\Users\D1081493\AppData\Local\Temp\claude\C--Users-D1081493-Desktop-wmux-0-8-5\05788e44-933f-4ad6-bd87-31a70750e9ba\scratchpad\audit\img\s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0" y="868680"/>
            <a:ext cx="2340896" cy="50749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315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一句話結論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付費與交付之間，</a:t>
            </a:r>
            <a:endParaRPr lang="en-US" sz="3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產品裡沒有任何一條路把它們接起來。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3520440"/>
            <a:ext cx="3291840" cy="2194560"/>
          </a:xfrm>
          <a:prstGeom prst="roundRect">
            <a:avLst>
              <a:gd name="adj" fmla="val 1667"/>
            </a:avLst>
          </a:prstGeom>
          <a:solidFill>
            <a:srgbClr val="2B3A4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69848" y="3703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9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4114800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付款當下，App 沒有變化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4553712"/>
            <a:ext cx="27066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沒有引導、沒有額度顯示，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也沒有「我的景點」入口。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付費前後的地圖一模一樣。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0" y="3520440"/>
            <a:ext cx="3291840" cy="2194560"/>
          </a:xfrm>
          <a:prstGeom prst="roundRect">
            <a:avLst>
              <a:gd name="adj" fmla="val 1667"/>
            </a:avLst>
          </a:prstGeom>
          <a:solidFill>
            <a:srgbClr val="2B3A4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81728" y="3703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9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81728" y="4114800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 100% 由商家自己生產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81728" y="4553712"/>
            <a:ext cx="27066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自己錄音、自己寫文案、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自己拍照、自己認領。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付費後工作量不減反增。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01000" y="3520440"/>
            <a:ext cx="3291840" cy="2194560"/>
          </a:xfrm>
          <a:prstGeom prst="roundRect">
            <a:avLst>
              <a:gd name="adj" fmla="val 1667"/>
            </a:avLst>
          </a:prstGeom>
          <a:solidFill>
            <a:srgbClr val="2B3A4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93608" y="3703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9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93608" y="4114800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主線由三個人工關卡串起來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93608" y="4553712"/>
            <a:ext cx="27066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人工審核語音、人工開放認領、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商家自己回來重試——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商家一個都看不到。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流程稽核結果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實測數字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447288" cy="1920240"/>
          </a:xfrm>
          <a:prstGeom prst="roundRect">
            <a:avLst>
              <a:gd name="adj" fmla="val 1905"/>
            </a:avLst>
          </a:prstGeom>
          <a:solidFill>
            <a:srgbClr val="F1F4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975104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41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852928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流程步驟總數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70248" y="1737360"/>
            <a:ext cx="3447288" cy="1920240"/>
          </a:xfrm>
          <a:prstGeom prst="roundRect">
            <a:avLst>
              <a:gd name="adj" fmla="val 1905"/>
            </a:avLst>
          </a:prstGeom>
          <a:solidFill>
            <a:srgbClr val="F1F4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0288" y="1975104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418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000" dirty="0"/>
          </a:p>
        </p:txBody>
      </p:sp>
      <p:sp>
        <p:nvSpPr>
          <p:cNvPr id="9" name="Text 7"/>
          <p:cNvSpPr txBox="1"/>
          <p:nvPr/>
        </p:nvSpPr>
        <p:spPr>
          <a:xfrm>
            <a:off x="4590288" y="2852928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商家能靠自己完成的步驟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（全部落在付款段）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91856" y="1737360"/>
            <a:ext cx="3447288" cy="1920240"/>
          </a:xfrm>
          <a:prstGeom prst="roundRect">
            <a:avLst>
              <a:gd name="adj" fmla="val 1905"/>
            </a:avLst>
          </a:prstGeom>
          <a:solidFill>
            <a:srgbClr val="F1F4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11896" y="1975104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0" dirty="0"/>
          </a:p>
        </p:txBody>
      </p:sp>
      <p:sp>
        <p:nvSpPr>
          <p:cNvPr id="12" name="Text 10"/>
          <p:cNvSpPr txBox="1"/>
          <p:nvPr/>
        </p:nvSpPr>
        <p:spPr>
          <a:xfrm>
            <a:off x="8311896" y="2852928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死路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（點下去無法前進）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950208"/>
            <a:ext cx="3447288" cy="1920240"/>
          </a:xfrm>
          <a:prstGeom prst="roundRect">
            <a:avLst>
              <a:gd name="adj" fmla="val 1905"/>
            </a:avLst>
          </a:prstGeom>
          <a:solidFill>
            <a:srgbClr val="F1F4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187952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50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06577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全程收到的通知則數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270248" y="3950208"/>
            <a:ext cx="3447288" cy="1920240"/>
          </a:xfrm>
          <a:prstGeom prst="roundRect">
            <a:avLst>
              <a:gd name="adj" fmla="val 1905"/>
            </a:avLst>
          </a:prstGeom>
          <a:solidFill>
            <a:srgbClr val="F1F4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0288" y="4187952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0" dirty="0"/>
          </a:p>
        </p:txBody>
      </p:sp>
      <p:sp>
        <p:nvSpPr>
          <p:cNvPr id="18" name="Text 16"/>
          <p:cNvSpPr txBox="1"/>
          <p:nvPr/>
        </p:nvSpPr>
        <p:spPr>
          <a:xfrm>
            <a:off x="4590288" y="506577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純人工關卡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（商家看不見）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91856" y="3950208"/>
            <a:ext cx="3447288" cy="1920240"/>
          </a:xfrm>
          <a:prstGeom prst="roundRect">
            <a:avLst>
              <a:gd name="adj" fmla="val 1905"/>
            </a:avLst>
          </a:prstGeom>
          <a:solidFill>
            <a:srgbClr val="F1F4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11896" y="4187952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$3,800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8311896" y="506577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專業版年費 ／ 3 個景點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資料來源：2026/08/26–08/27 實測截圖 21 張（含後台 2 張）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 步驟 ／ 6 個階段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流程全貌：斷點在哪裡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　訂閱付款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1F4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2870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1F4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2870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50876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1F4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50876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8882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8882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6888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6888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94894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94894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2900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2900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069080" y="1828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　找店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6908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B3251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06908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4914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1F4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4914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189220" y="1828800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　自製內容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18922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8922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4934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4934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62940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1F4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62940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10946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1F4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10946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749540" y="1828800"/>
            <a:ext cx="18425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　審核黑箱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74954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4954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22960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B3251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22960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70966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70966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918972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B3251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18972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829800" y="1828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　後台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82980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1F4F7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82980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030986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30986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078992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B3251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078992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20b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11430000" y="1828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　收尾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11430000" y="2286000"/>
            <a:ext cx="402336" cy="402336"/>
          </a:xfrm>
          <a:prstGeom prst="roundRect">
            <a:avLst>
              <a:gd name="adj" fmla="val 6818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143000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548640" y="3127248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1F4F7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32688" y="31272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正常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1965960" y="3127248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BF0E6"/>
          </a:solidFill>
          <a:ln w="12700">
            <a:solidFill>
              <a:srgbClr val="C06A22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350008" y="31272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有問題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3657600" y="3127248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B3251C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041648" y="31272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死路：無法靠自己前進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48640" y="3794760"/>
            <a:ext cx="11064240" cy="2331720"/>
          </a:xfrm>
          <a:prstGeom prst="roundRect">
            <a:avLst>
              <a:gd name="adj" fmla="val 1569"/>
            </a:avLst>
          </a:prstGeom>
          <a:solidFill>
            <a:srgbClr val="FBEBE9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68680" y="396849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三處死路 ＋ 一處 C 端連坐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68680" y="441655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1499616" y="4416552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回到首頁地圖，找不到自己的店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868680" y="481888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1499616" y="4818888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剛上傳成功的語音，在自己頁面上消失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868680" y="5221224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1499616" y="5221224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「未被認領」＋可點的按鈕，按下去說「不可被認領」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868680" y="5623560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20b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1499616" y="562356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遊客看到有語音，按播放卻被拒絕（C 端被連坐）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流程圖中沒有第 7 步——付款完成到下一個有意義的動作之間，產品沒有給出任何東西可以截圖。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916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B3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9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訂閱付款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這一段商家可以靠自己完成，也是整段流程中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唯一不需要猜的部分——只花了 49 秒。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074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01 – 07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01 – 03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App → 我的 → 我的訂閱</a:t>
            </a:r>
            <a:endParaRPr lang="en-US" sz="2700" dirty="0"/>
          </a:p>
        </p:txBody>
      </p:sp>
      <p:pic>
        <p:nvPicPr>
          <p:cNvPr id="4" name="Image 0" descr="C:\Users\D1081493\AppData\Local\Temp\claude\C--Users-D1081493-Desktop-wmux-0-8-5\05788e44-933f-4ad6-bd87-31a70750e9ba\scratchpad\audit\img\s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600200"/>
            <a:ext cx="1708222" cy="37033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30352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　地圖首頁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38912" y="57424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與一般遊客看到的完全相同</a:t>
            </a:r>
            <a:endParaRPr lang="en-US" sz="1050" dirty="0"/>
          </a:p>
        </p:txBody>
      </p:sp>
      <p:pic>
        <p:nvPicPr>
          <p:cNvPr id="7" name="Image 1" descr="C:\Users\D1081493\AppData\Local\Temp\claude\C--Users-D1081493-Desktop-wmux-0-8-5\05788e44-933f-4ad6-bd87-31a70750e9ba\scratchpad\audit\img\s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600200"/>
            <a:ext cx="1708222" cy="37033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2926080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　我的頁面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2834640" y="57424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上傳語音 0 則、總播放 0 次</a:t>
            </a:r>
            <a:endParaRPr lang="en-US" sz="1050" dirty="0"/>
          </a:p>
        </p:txBody>
      </p:sp>
      <p:pic>
        <p:nvPicPr>
          <p:cNvPr id="10" name="Image 2" descr="C:\Users\D1081493\AppData\Local\Temp\claude\C--Users-D1081493-Desktop-wmux-0-8-5\05788e44-933f-4ad6-bd87-31a70750e9ba\scratchpad\audit\img\s0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4688" y="1600200"/>
            <a:ext cx="1708222" cy="37033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11" name="Text 6"/>
          <p:cNvSpPr txBox="1"/>
          <p:nvPr/>
        </p:nvSpPr>
        <p:spPr>
          <a:xfrm>
            <a:off x="5321808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　我的訂閱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5230368" y="57424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「免費版」＋兩顆按鈕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7863840" y="1600200"/>
            <a:ext cx="3749040" cy="1965960"/>
          </a:xfrm>
          <a:prstGeom prst="roundRect">
            <a:avLst>
              <a:gd name="adj" fmla="val 1860"/>
            </a:avLst>
          </a:prstGeom>
          <a:solidFill>
            <a:srgbClr val="F1F4F7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8156448" y="1801368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這三步本身還沒有問題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156448" y="2185416"/>
            <a:ext cx="31638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畫面都能運作，商家也找得到入口。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真正的斷點從第 4 步開始出現。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7863840" y="3794760"/>
            <a:ext cx="3749040" cy="2331720"/>
          </a:xfrm>
          <a:prstGeom prst="roundRect">
            <a:avLst>
              <a:gd name="adj" fmla="val 1569"/>
            </a:avLst>
          </a:prstGeom>
          <a:solidFill>
            <a:srgbClr val="FBF0E6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183880" y="401421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但徵兆已經看得到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183880" y="4434840"/>
            <a:ext cx="310896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「我的訂閱」整頁只有一行方案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名稱加兩顆按鈕，其餘全空白。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「檢視認領中的景點」在商家最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需要它的時候，必定是空的。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截圖時間 11:44　實測帳號 TszHong Yung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C06A2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04　選擇訂閱方案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一進頁面，最便宜的方案就是殘缺的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s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08760"/>
            <a:ext cx="2066737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7" name="Shape 4"/>
          <p:cNvSpPr/>
          <p:nvPr/>
        </p:nvSpPr>
        <p:spPr>
          <a:xfrm>
            <a:off x="896112" y="2313432"/>
            <a:ext cx="932688" cy="384048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B3251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907792" y="22128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入門版（1 點）只剩兩行，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名稱與價格在畫面外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806440" y="1508760"/>
            <a:ext cx="5806440" cy="1783080"/>
          </a:xfrm>
          <a:prstGeom prst="roundRect">
            <a:avLst>
              <a:gd name="adj" fmla="val 2051"/>
            </a:avLst>
          </a:prstGeom>
          <a:solidFill>
            <a:srgbClr val="FBF0E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126480" y="172821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頁面初始捲動位置錯誤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2148840"/>
            <a:ext cx="51663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進入「變更訂閱」時，畫面已經捲過第一個方案，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只剩「1 個景點／28 天免費試用」兩行。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最便宜的選項在預設視野裡是看不完整的。</a:t>
            </a:r>
            <a:endParaRPr lang="en-US" sz="1300" dirty="0"/>
          </a:p>
        </p:txBody>
      </p:sp>
      <p:pic>
        <p:nvPicPr>
          <p:cNvPr id="12" name="Image 1" descr="C:\Users\D1081493\AppData\Local\Temp\claude\C--Users-D1081493-Desktop-wmux-0-8-5\05788e44-933f-4ad6-bd87-31a70750e9ba\scratchpad\audit\img\c04_ter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3611880"/>
            <a:ext cx="5806440" cy="4572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13" name="Shape 9"/>
          <p:cNvSpPr/>
          <p:nvPr/>
        </p:nvSpPr>
        <p:spPr>
          <a:xfrm>
            <a:off x="5806440" y="4224528"/>
            <a:ext cx="5806440" cy="1901952"/>
          </a:xfrm>
          <a:prstGeom prst="roundRect">
            <a:avLst>
              <a:gd name="adj" fmla="val 1923"/>
            </a:avLst>
          </a:prstGeom>
          <a:solidFill>
            <a:srgbClr val="FBF0E6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126480" y="4443984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自動續訂條款被容器裁斷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126480" y="4864608"/>
            <a:ext cx="51663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「…除非在當前訂閱期結束前至少 24 小時關閉。付款將在確」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句子在這裡就沒了，上下也被切掉半個字高。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這不是排版瑕疵——是訂閱制商品的揭露義務問題，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也是 App Store 審核的常見退件點。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另：$3,800 的專業版預設已被勾選，而畫面上沒有任何標示指出使用者目前是免費版。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C06A2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05 – 06　付款完成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付了錢，然後什麼都沒有發生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s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08760"/>
            <a:ext cx="2066737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pic>
        <p:nvPicPr>
          <p:cNvPr id="7" name="Image 1" descr="C:\Users\D1081493\AppData\Local\Temp\claude\C--Users-D1081493-Desktop-wmux-0-8-5\05788e44-933f-4ad6-bd87-31a70750e9ba\scratchpad\audit\img\s0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508760"/>
            <a:ext cx="2066737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274320" y="60167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　「你的購買已成功」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2651760" y="60167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　回到「我的訂閱」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806440" y="1508760"/>
            <a:ext cx="5806440" cy="2148840"/>
          </a:xfrm>
          <a:prstGeom prst="roundRect">
            <a:avLst>
              <a:gd name="adj" fmla="val 1702"/>
            </a:avLst>
          </a:prstGeom>
          <a:solidFill>
            <a:srgbClr val="FBF0E6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126480" y="172821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按下「好」之後，回到原本的方案列表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2148840"/>
            <a:ext cx="51663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沒有歡迎頁、沒有待辦清單、沒有「接下來要做什麼」。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整個漏斗最貴、使用者意願最高的那一格，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被完全浪費掉。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806440" y="3840480"/>
            <a:ext cx="5806440" cy="2286000"/>
          </a:xfrm>
          <a:prstGeom prst="roundRect">
            <a:avLst>
              <a:gd name="adj" fmla="val 1600"/>
            </a:avLst>
          </a:prstGeom>
          <a:solidFill>
            <a:srgbClr val="FBF0E6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126480" y="405993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整頁唯一的變化：一行字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126480" y="4480560"/>
            <a:ext cx="516636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「免費版」→「專業版 (3 點)」。除此之外：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沒有點數餘額（買了 3 點，用掉幾點？）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沒有到期日、沒有下次扣款日與金額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沒有 28 天試用的剩餘天數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沒有取消入口、沒有發票或收據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付了 $3,800／年的人，在 App 裡看不到自己何時會被扣款。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07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10312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流程圖裡沒有第七步。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777240" y="3474720"/>
            <a:ext cx="10607040" cy="1828800"/>
          </a:xfrm>
          <a:prstGeom prst="roundRect">
            <a:avLst>
              <a:gd name="adj" fmla="val 2000"/>
            </a:avLst>
          </a:prstGeom>
          <a:solidFill>
            <a:srgbClr val="2B3A4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88720" y="3794760"/>
            <a:ext cx="9784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700" dirty="0">
                <a:solidFill>
                  <a:srgbClr val="DDE4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實測者的截圖，從第 6 步直接跳到第 8 步。</a:t>
            </a: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這個空缺本身就是發現：付款完成到下一個有意義的動作之間，</a:t>
            </a: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產品沒有給出任何東西可以截圖。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916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B3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9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找到自己的店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付費身分不會改變地圖上的任何東西。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商家必須自己把自己的店找出來。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074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08 – 09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B325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死路 ①　步驟 08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付費前與付費後的地圖，一模一樣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s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54480"/>
            <a:ext cx="1919113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pic>
        <p:nvPicPr>
          <p:cNvPr id="7" name="Image 1" descr="C:\Users\D1081493\AppData\Local\Temp\claude\C--Users-D1081493-Desktop-wmux-0-8-5\05788e44-933f-4ad6-bd87-31a70750e9ba\scratchpad\audit\img\s0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808" y="1554480"/>
            <a:ext cx="1919113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320040" y="5852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付費前（步驟 01）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2651760" y="5852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付費後（步驟 08）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806440" y="1554480"/>
            <a:ext cx="5806440" cy="2377440"/>
          </a:xfrm>
          <a:prstGeom prst="roundRect">
            <a:avLst>
              <a:gd name="adj" fmla="val 1538"/>
            </a:avLst>
          </a:prstGeom>
          <a:solidFill>
            <a:srgbClr val="FBEBE9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126480" y="177393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商家找不到自己的店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2194560"/>
            <a:ext cx="51663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地圖上散落數個灰色 pin，沒有任何一個標示為「你的店」。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沒有自動定位到自己的景點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沒有「我的景點」入口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pin 沒有任何差別待遇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806440" y="4114800"/>
            <a:ext cx="5806440" cy="2011680"/>
          </a:xfrm>
          <a:prstGeom prst="roundRect">
            <a:avLst>
              <a:gd name="adj" fmla="val 1818"/>
            </a:avLst>
          </a:prstGeom>
          <a:solidFill>
            <a:srgbClr val="FBEBE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126480" y="433425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根因：訂閱綁帳號，內容綁景點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126480" y="4754880"/>
            <a:ext cx="516636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系統從頭到尾不知道「這個付費帳號」和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「哪一間店」是同一件事。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後面所有的混亂，都源自這一點。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死路定義：使用者在此處無法靠產品本身的引導前進。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C06A2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09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唯一的辦法：自己打字搜尋店名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s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54480"/>
            <a:ext cx="2066737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7" name="Shape 4"/>
          <p:cNvSpPr/>
          <p:nvPr/>
        </p:nvSpPr>
        <p:spPr>
          <a:xfrm>
            <a:off x="786384" y="2212848"/>
            <a:ext cx="1911096" cy="301752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B325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806440" y="1554480"/>
            <a:ext cx="5806440" cy="2103120"/>
          </a:xfrm>
          <a:prstGeom prst="roundRect">
            <a:avLst>
              <a:gd name="adj" fmla="val 1739"/>
            </a:avLst>
          </a:prstGeom>
          <a:solidFill>
            <a:srgbClr val="FBF0E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126480" y="177393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商家只能用「搜尋景點」找自己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126480" y="2194560"/>
            <a:ext cx="51663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在搜尋框輸入「香記烤鴨」，紅色 pin 才出現。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這是商家找到自己店家的唯一路徑——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和一個完全沒付費的路人，用的是同一個功能。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806440" y="3840480"/>
            <a:ext cx="5806440" cy="2286000"/>
          </a:xfrm>
          <a:prstGeom prst="roundRect">
            <a:avLst>
              <a:gd name="adj" fmla="val 1600"/>
            </a:avLst>
          </a:prstGeom>
          <a:solidFill>
            <a:srgbClr val="F1F4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099048" y="4041648"/>
            <a:ext cx="5221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這個流程「應該」長什麼樣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099048" y="4425696"/>
            <a:ext cx="522122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付款完成 → 選擇你的店 → 綁定 → 進入商家後台。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目前的產品把這三件事全部省略，直接把商家丟回公用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地圖，讓他自己用搜尋功能找回自己。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訂閱資料與景點資料之間，沒有任何關聯被建立。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截圖時間 7:59　電量 36%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916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B3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9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自製內容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付了 $3,800 之後，工作量不減反增。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錄音、文案、照片，全部由商家自己生產。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074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10 – 14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C06A2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10 – 11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對付費商家，說著給遊客聽的話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s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54480"/>
            <a:ext cx="1919113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pic>
        <p:nvPicPr>
          <p:cNvPr id="7" name="Image 1" descr="C:\Users\D1081493\AppData\Local\Temp\claude\C--Users-D1081493-Desktop-wmux-0-8-5\05788e44-933f-4ad6-bd87-31a70750e9ba\scratchpad\audit\img\s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808" y="1554480"/>
            <a:ext cx="1919113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320040" y="5852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　景點頁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2651760" y="5852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　上傳音檔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806440" y="1554480"/>
            <a:ext cx="5806440" cy="1600200"/>
          </a:xfrm>
          <a:prstGeom prst="roundRect">
            <a:avLst>
              <a:gd name="adj" fmla="val 2286"/>
            </a:avLst>
          </a:prstGeom>
          <a:solidFill>
            <a:srgbClr val="FBF0E6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126480" y="177393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全 App 只有一種語氣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2194560"/>
            <a:ext cx="516636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「這個地點目前還沒有語音導覽唷！」——剛付完 $3,800 的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商家，看到的是這句寫給觀光客的話。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806440" y="3337560"/>
            <a:ext cx="5806440" cy="1508760"/>
          </a:xfrm>
          <a:prstGeom prst="roundRect">
            <a:avLst>
              <a:gd name="adj" fmla="val 2424"/>
            </a:avLst>
          </a:prstGeom>
          <a:solidFill>
            <a:srgbClr val="FBF0E6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126480" y="355701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規則出現在錯誤的時機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126480" y="3977640"/>
            <a:ext cx="5166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「音檔時長至少 30 秒，且不得超過 5 分鐘」印在上傳按鈕的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下方。使用者是先錄完、先選完檔，才看到這條規則。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806440" y="5029200"/>
            <a:ext cx="5806440" cy="1097280"/>
          </a:xfrm>
          <a:prstGeom prst="roundRect">
            <a:avLst>
              <a:gd name="adj" fmla="val 3333"/>
            </a:avLst>
          </a:prstGeom>
          <a:solidFill>
            <a:srgbClr val="FBF0E6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126480" y="524865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原始檔名未清洗直接外露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126480" y="566928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Neo_渝函_預設-## 一隻烤.mp3　連檔名裡的「##」都照樣顯示。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一個付費商家與一個路人，在這兩個畫面上看到的內容完全相同。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C06A2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12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決定金流的分岔，做成一個沒防呆的勾選框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s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54480"/>
            <a:ext cx="2761488" cy="4562856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7" name="Shape 4"/>
          <p:cNvSpPr/>
          <p:nvPr/>
        </p:nvSpPr>
        <p:spPr>
          <a:xfrm>
            <a:off x="822960" y="2907792"/>
            <a:ext cx="841248" cy="329184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B325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23360" y="1554480"/>
            <a:ext cx="7589520" cy="2148840"/>
          </a:xfrm>
          <a:prstGeom prst="roundRect">
            <a:avLst>
              <a:gd name="adj" fmla="val 1702"/>
            </a:avLst>
          </a:prstGeom>
          <a:solidFill>
            <a:srgbClr val="FBF0E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43400" y="1773936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商家要自己判斷「我算不算商家」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343400" y="2194560"/>
            <a:ext cx="694944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「請先確認本地點屬於何種景點？」兩個外觀相同的方框：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一般景點／商家景點。勾選商家景點後才提示「需付費才能上架」。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一個直接決定要不要收費的分岔，被放在上傳音檔之後、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沒有防呆、沒有說明差異、也沒有預設判斷。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023360" y="3886200"/>
            <a:ext cx="7589520" cy="2240280"/>
          </a:xfrm>
          <a:prstGeom prst="roundRect">
            <a:avLst>
              <a:gd name="adj" fmla="val 1633"/>
            </a:avLst>
          </a:prstGeom>
          <a:solidFill>
            <a:srgbClr val="FBEBE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343400" y="4105656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更關鍵：這裡跟第 5 步的付款完全沒有連動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343400" y="4526280"/>
            <a:ext cx="69494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商家在第 5 步已經付過錢了。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系統卻在這裡再次告訴他「需付費才能上架該地點導覽語音」。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付款狀態、點數餘額、景點類型三者之間，沒有任何一條資料是通的。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商家如果誤勾「一般景點」，他剛付的 $3,800 在這條路徑上完全用不到。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B325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13 – 14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$3,800 買到的東西，全部要自己做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s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54480"/>
            <a:ext cx="1919113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pic>
        <p:nvPicPr>
          <p:cNvPr id="7" name="Image 1" descr="C:\Users\D1081493\AppData\Local\Temp\claude\C--Users-D1081493-Desktop-wmux-0-8-5\05788e44-933f-4ad6-bd87-31a70750e9ba\scratchpad\audit\img\s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808" y="1554480"/>
            <a:ext cx="1919113" cy="41605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91440" y="5852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　自己寫文案、自己拍照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2423160" y="5852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　輸入內文送出（506／2047）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806440" y="1554480"/>
            <a:ext cx="5806440" cy="2377440"/>
          </a:xfrm>
          <a:prstGeom prst="roundRect">
            <a:avLst>
              <a:gd name="adj" fmla="val 1538"/>
            </a:avLst>
          </a:prstGeom>
          <a:solidFill>
            <a:srgbClr val="FBEBE9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126480" y="177393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交付物 100% 由商家自己生產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2194560"/>
            <a:ext cx="51663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錄音：商家自己錄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文案：商家自己寫（實測 506 字）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照片：商家自己拍、自己上傳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上架：還要等後台人工審核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認領：商家自己回來點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806440" y="4114800"/>
            <a:ext cx="5806440" cy="2011680"/>
          </a:xfrm>
          <a:prstGeom prst="roundRect">
            <a:avLst>
              <a:gd name="adj" fmla="val 1818"/>
            </a:avLst>
          </a:prstGeom>
          <a:solidFill>
            <a:srgbClr val="FBEBE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126480" y="433425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商業模式與產品交付互相矛盾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126480" y="4754880"/>
            <a:ext cx="516636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收費 $3,800／年，而流程上完全看不出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這筆錢換到了什麼服務。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這會是商家投訴與退費的第一個切入點。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請對方在這 21 張截圖裡，指出哪一個畫面是這筆錢換來的東西。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916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B3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9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審核黑箱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上傳成功之後，商家失去所有可見度：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不知道審核要多久，也不知道自己的東西還在不在。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074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15 – 18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C06A2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15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Markdown 沒有被解析，原始標記直接印出來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s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54480"/>
            <a:ext cx="2670048" cy="448970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pic>
        <p:nvPicPr>
          <p:cNvPr id="7" name="Image 1" descr="C:\Users\D1081493\AppData\Local\Temp\claude\C--Users-D1081493-Desktop-wmux-0-8-5\05788e44-933f-4ad6-bd87-31a70750e9ba\scratchpad\audit\img\c15_m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00200"/>
            <a:ext cx="7680960" cy="246888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Shape 4"/>
          <p:cNvSpPr/>
          <p:nvPr/>
        </p:nvSpPr>
        <p:spPr>
          <a:xfrm>
            <a:off x="5852160" y="3566160"/>
            <a:ext cx="749808" cy="365760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B3251C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3931920" y="4297680"/>
            <a:ext cx="3703320" cy="1828800"/>
          </a:xfrm>
          <a:prstGeom prst="roundRect">
            <a:avLst>
              <a:gd name="adj" fmla="val 2000"/>
            </a:avLst>
          </a:prstGeom>
          <a:solidFill>
            <a:srgbClr val="FBF0E6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251960" y="451713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前後端沒有內容格式共識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4251960" y="4937760"/>
            <a:ext cx="3063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後端存 Markdown、前端當純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文字輸出。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簡介印出「## 一隻烤鴨…」，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內文印出「**香記烤鴨**」。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09560" y="4297680"/>
            <a:ext cx="3703320" cy="1828800"/>
          </a:xfrm>
          <a:prstGeom prst="roundRect">
            <a:avLst>
              <a:gd name="adj" fmla="val 2000"/>
            </a:avLst>
          </a:prstGeom>
          <a:solidFill>
            <a:srgbClr val="FBF0E6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229600" y="451713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沒說審核要多久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0" y="4937760"/>
            <a:ext cx="3063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「審核通過後即可上架」——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沒有預估時間、沒有進度、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沒有查詢入口、沒有通知。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對商家而言是完全的黑箱。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這個欄位從來沒有人定義過規格：誰負責存、誰負責 render、允不允許 Markdown。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B325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死路 ②　步驟 16 – 17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剛上傳成功的語音，在自己的畫面上消失了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c16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54480"/>
            <a:ext cx="4160520" cy="3904488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713232" y="559612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實測者自己圈出那三個點，註記：「原來，商家要點右上角」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303520" y="1554480"/>
            <a:ext cx="6309360" cy="2240280"/>
          </a:xfrm>
          <a:prstGeom prst="roundRect">
            <a:avLst>
              <a:gd name="adj" fmla="val 1633"/>
            </a:avLst>
          </a:prstGeom>
          <a:solidFill>
            <a:srgbClr val="FBEBE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623560" y="1773936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上傳成功 → 回到景點頁 →「尚無語音導覽」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623560" y="2194560"/>
            <a:ext cx="566928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後台看得到這筆資料，商家自己的畫面上卻沒有任何痕跡。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沒有「審核中」卡片、沒有灰色佔位、沒有狀態標籤。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使用者無法區分「審核中」與「上傳失敗」——會直接重傳。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303520" y="3977640"/>
            <a:ext cx="6309360" cy="2148840"/>
          </a:xfrm>
          <a:prstGeom prst="roundRect">
            <a:avLst>
              <a:gd name="adj" fmla="val 1702"/>
            </a:avLst>
          </a:prstGeom>
          <a:solidFill>
            <a:srgbClr val="FBEBE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23560" y="4197096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付費功能的唯一入口，藏在右上角三個點裡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623560" y="4617720"/>
            <a:ext cx="566928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「景點管理」沒有出現在「我的」頁面、沒有出現在訂閱頁，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也沒有出現在景點頁的主要區域。選單裡只有這一個選項。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截圖上那句「原來」，本身就是一次可用性測試的結論。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這一步會直接製造重複上傳與客服工單。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B325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死路 ③　步驟 18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同一個畫面，自己跟自己矛盾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c18_er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54480"/>
            <a:ext cx="5321808" cy="453542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7" name="Shape 4"/>
          <p:cNvSpPr/>
          <p:nvPr/>
        </p:nvSpPr>
        <p:spPr>
          <a:xfrm>
            <a:off x="6537960" y="1554480"/>
            <a:ext cx="5074920" cy="2103120"/>
          </a:xfrm>
          <a:prstGeom prst="roundRect">
            <a:avLst>
              <a:gd name="adj" fmla="val 1739"/>
            </a:avLst>
          </a:prstGeom>
          <a:solidFill>
            <a:srgbClr val="FBEBE9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0" y="1792224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畫面說：</a:t>
            </a:r>
            <a:endParaRPr lang="en-US" sz="13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6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「目前未被認領」＋亮色可點的「我要認領」</a:t>
            </a:r>
            <a:endParaRPr lang="en-US" sz="1300" dirty="0"/>
          </a:p>
          <a:p>
            <a:pPr indent="0" marL="0">
              <a:lnSpc>
                <a:spcPts val="2500"/>
              </a:lnSpc>
              <a:buNone/>
            </a:pPr>
            <a:endParaRPr lang="en-US" sz="13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按下去說：</a:t>
            </a:r>
            <a:endParaRPr lang="en-US" sz="13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6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「該景點目前不可被認領」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537960" y="3840480"/>
            <a:ext cx="5074920" cy="1188720"/>
          </a:xfrm>
          <a:prstGeom prst="roundRect">
            <a:avLst>
              <a:gd name="adj" fmla="val 3077"/>
            </a:avLst>
          </a:prstGeom>
          <a:solidFill>
            <a:srgbClr val="FBEBE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858000" y="4059936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前端沒拿真實狀態就把按鈕點亮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4480560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 disable、沒有灰階、沒有說明，直接交給後端去擋。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537960" y="5166360"/>
            <a:ext cx="5074920" cy="960120"/>
          </a:xfrm>
          <a:prstGeom prst="roundRect">
            <a:avLst>
              <a:gd name="adj" fmla="val 3810"/>
            </a:avLst>
          </a:prstGeom>
          <a:solidFill>
            <a:srgbClr val="FBEBE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858000" y="5385816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錯誤訊息不說原因也不說下一步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0" y="5806440"/>
            <a:ext cx="443484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為什麼？要等什麼？等多久？找誰？一個字都沒有。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最典型的「前端不 disable、後端才擋」寫法。使用者被騙點一次，換來一則無用的紅色橫幅。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916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B3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9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後台與收尾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真正的關卡在商家看不到的地方：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兩個人工開關，決定他的付費功能能不能用。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074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19 – 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B325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19 vs 20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後台兩張表，對不起來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463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語音管理：已上架、審核完成</a:t>
            </a:r>
            <a:endParaRPr lang="en-US" sz="1300" dirty="0"/>
          </a:p>
        </p:txBody>
      </p:sp>
      <p:pic>
        <p:nvPicPr>
          <p:cNvPr id="7" name="Image 0" descr="C:\Users\D1081493\AppData\Local\Temp\claude\C--Users-D1081493-Desktop-wmux-0-8-5\05788e44-933f-4ad6-bd87-31a70750e9ba\scratchpad\audit\img\c19_r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10512"/>
            <a:ext cx="10881360" cy="1865376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13232" y="39136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景點管理：同一間店，語音數量 0、收聽數 0</a:t>
            </a:r>
            <a:endParaRPr lang="en-US" sz="1300" dirty="0"/>
          </a:p>
        </p:txBody>
      </p:sp>
      <p:pic>
        <p:nvPicPr>
          <p:cNvPr id="9" name="Image 1" descr="C:\Users\D1081493\AppData\Local\Temp\claude\C--Users-D1081493-Desktop-wmux-0-8-5\05788e44-933f-4ad6-bd87-31a70750e9ba\scratchpad\audit\img\c20_z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261104"/>
            <a:ext cx="5120640" cy="133502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10" name="Shape 6"/>
          <p:cNvSpPr/>
          <p:nvPr/>
        </p:nvSpPr>
        <p:spPr>
          <a:xfrm>
            <a:off x="6172200" y="4261104"/>
            <a:ext cx="5440680" cy="1828800"/>
          </a:xfrm>
          <a:prstGeom prst="roundRect">
            <a:avLst>
              <a:gd name="adj" fmla="val 2000"/>
            </a:avLst>
          </a:prstGeom>
          <a:solidFill>
            <a:srgbClr val="FBEBE9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92240" y="4480560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同一份資料，兩個模組讀出兩種結果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4901184"/>
            <a:ext cx="4800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端顯示「尚無語音導覽」，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極可能就是讀到這個 0。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後台自己都不知道這間店有沒有語音。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兩張截圖來自同一個後台、同一個時間點、同一筆景點「香記烤鴨」。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B325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20 – 21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能不能用付費功能，取決於有沒有人記得撥開關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c20_togg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72768"/>
            <a:ext cx="3931920" cy="19659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713232" y="36027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後台的「是否開放認領」——一個純人工開關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029200" y="1572768"/>
            <a:ext cx="6583680" cy="2103120"/>
          </a:xfrm>
          <a:prstGeom prst="roundRect">
            <a:avLst>
              <a:gd name="adj" fmla="val 1739"/>
            </a:avLst>
          </a:prstGeom>
          <a:solidFill>
            <a:srgbClr val="FBEBE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49240" y="1792224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主線由三個純人工關卡串起來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349240" y="2212848"/>
            <a:ext cx="59436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人工審核語音　② 人工打開「是否開放認領」　③ 商家自己回來重試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沒有排程、沒有 SLA、沒有對外揭露，也沒有任何畫面告訴商家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「你現在卡在第幾關」。</a:t>
            </a:r>
            <a:endParaRPr lang="en-US" sz="1300" dirty="0"/>
          </a:p>
        </p:txBody>
      </p:sp>
      <p:pic>
        <p:nvPicPr>
          <p:cNvPr id="11" name="Image 1" descr="C:\Users\D1081493\AppData\Local\Temp\claude\C--Users-D1081493-Desktop-wmux-0-8-5\05788e44-933f-4ad6-bd87-31a70750e9ba\scratchpad\audit\img\c21_clai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977640"/>
            <a:ext cx="2487168" cy="213055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12" name="Shape 8"/>
          <p:cNvSpPr/>
          <p:nvPr/>
        </p:nvSpPr>
        <p:spPr>
          <a:xfrm>
            <a:off x="3520440" y="3977640"/>
            <a:ext cx="8092440" cy="2130552"/>
          </a:xfrm>
          <a:prstGeom prst="roundRect">
            <a:avLst>
              <a:gd name="adj" fmla="val 1717"/>
            </a:avLst>
          </a:prstGeom>
          <a:solidFill>
            <a:srgbClr val="FBEBE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3840480" y="4197096"/>
            <a:ext cx="7452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開關撥開了，但商家沒有收到任何通知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840480" y="4617720"/>
            <a:ext cx="745236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沒有推播　✕ 沒有 Email　✕ 沒有站內信　✕ 沒有紅點　✕ 沒有待辦中心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付款成功、審核完成、開放認領、認領成功——四個關鍵狀態變化，商家收到 0 則通知。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實測者的註記：「商家終於能認領，但沒有收到任何通知，只能憑感覺、靠運氣。」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這不是產品流程，是把人力流程外包給了付費客戶。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B325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死路 ④　步驟 20b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遊客看得到語音，但按下去不給聽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4904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遊客看到：有封面、有時長、有標題、有作者</a:t>
            </a:r>
            <a:endParaRPr lang="en-US" sz="1250" dirty="0"/>
          </a:p>
        </p:txBody>
      </p:sp>
      <p:pic>
        <p:nvPicPr>
          <p:cNvPr id="7" name="Image 0" descr="C:\Users\D1081493\AppData\Local\Temp\claude\C--Users-D1081493-Desktop-wmux-0-8-5\05788e44-933f-4ad6-bd87-31a70750e9ba\scratchpad\audit\img\c20b_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28800"/>
            <a:ext cx="6583680" cy="1316736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13232" y="33649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按下播放：</a:t>
            </a:r>
            <a:endParaRPr lang="en-US" sz="1250" dirty="0"/>
          </a:p>
        </p:txBody>
      </p:sp>
      <p:pic>
        <p:nvPicPr>
          <p:cNvPr id="9" name="Image 1" descr="C:\Users\D1081493\AppData\Local\Temp\claude\C--Users-D1081493-Desktop-wmux-0-8-5\05788e44-933f-4ad6-bd87-31a70750e9ba\scratchpad\audit\img\c20b_p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703320"/>
            <a:ext cx="6583680" cy="2395728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10" name="Shape 6"/>
          <p:cNvSpPr/>
          <p:nvPr/>
        </p:nvSpPr>
        <p:spPr>
          <a:xfrm>
            <a:off x="7680960" y="1490472"/>
            <a:ext cx="3931920" cy="2377440"/>
          </a:xfrm>
          <a:prstGeom prst="roundRect">
            <a:avLst>
              <a:gd name="adj" fmla="val 1538"/>
            </a:avLst>
          </a:prstGeom>
          <a:solidFill>
            <a:srgbClr val="FBEBE9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001000" y="170992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 端被內部流程連坐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001000" y="2130552"/>
            <a:ext cx="329184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「此景點未被管理，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無法播放錄音」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——這是給一般遊客看的訊息。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一個他完全無法理解、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也完全無法解決的內部狀態。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680960" y="4050792"/>
            <a:ext cx="3931920" cy="2048256"/>
          </a:xfrm>
          <a:prstGeom prst="roundRect">
            <a:avLst>
              <a:gd name="adj" fmla="val 1786"/>
            </a:avLst>
          </a:prstGeom>
          <a:solidFill>
            <a:srgbClr val="FBEBE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001000" y="427024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壞得比「暫無內容」更難看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8001000" y="4690872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不是沒東西，是有東西但不給聽。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商家付了錢，成果對外卻是壞的，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而且壞在一個他沒辦法解釋給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客人聽的理由上。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同時傷害 C 端體驗與 B 端信任——這是唯一一個會擴散到付費客戶之外的問題。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三個層級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問題清單與責任歸屬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47288" cy="4572000"/>
          </a:xfrm>
          <a:prstGeom prst="roundRect">
            <a:avLst>
              <a:gd name="adj" fmla="val 1061"/>
            </a:avLst>
          </a:prstGeom>
          <a:solidFill>
            <a:srgbClr val="F1F4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77393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一、工程實作缺陷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12140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責任：前端／後端／QA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523744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致命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335024" y="25237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按鈕可點但後端拒絕（18）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84835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致命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335024" y="284835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後台兩張表資料不一致（19↔20）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3172968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致命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335024" y="317296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上傳後沒有「審核中」狀態（16）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3497580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1335024" y="34975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Markdown 未解析（15）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3822192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335024" y="38221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續訂條款顯示不全（4）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04672" y="4146804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335024" y="41468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錯誤訊息不說原因（18、20b）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04672" y="447141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待改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335024" y="4471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方案頁初始捲動位置錯誤（4）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04672" y="4796028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待改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335024" y="479602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「回復購買」幾乎不可見（4）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5120640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待改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1335024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上傳檔名未清洗（11）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04672" y="5445252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待改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335024" y="54452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「取消認領」無二次確認（21）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04672" y="5769864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待改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335024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營運後台掛 dev-1.0.0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270248" y="1600200"/>
            <a:ext cx="3447288" cy="4572000"/>
          </a:xfrm>
          <a:prstGeom prst="roundRect">
            <a:avLst>
              <a:gd name="adj" fmla="val 1061"/>
            </a:avLst>
          </a:prstGeom>
          <a:solidFill>
            <a:srgbClr val="F1F4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26280" y="177393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二、產品設計缺失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4526280" y="212140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責任：PM／設計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526280" y="2523744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致命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056632" y="25237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付款成功後零引導（5→8）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4526280" y="284835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致命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5056632" y="284835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訂閱綁帳號、內容綁景點，兩者不通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4526280" y="3172968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致命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5056632" y="317296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「認領」這個步驟不該存在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4526280" y="3497580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056632" y="34975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「點數」從未被定義也未被顯示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526280" y="3822192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5056632" y="38221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訂閱頁缺到期日／扣款日／取消入口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4526280" y="4146804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056632" y="41468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唯一商家入口藏在三個點裡（16）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4526280" y="447141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5056632" y="4471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「檢視認領中的景點」必定是空的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4526280" y="4796028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5056632" y="479602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 0 則通知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4526280" y="5120640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5056632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商家與遊客共用同一套文案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4526280" y="5445252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5056632" y="54452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金流分岔做成無防呆勾選框（12）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4526280" y="5769864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待改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5056632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音檔規則出現在錯誤時機（11）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7991856" y="1600200"/>
            <a:ext cx="3447288" cy="4572000"/>
          </a:xfrm>
          <a:prstGeom prst="roundRect">
            <a:avLst>
              <a:gd name="adj" fmla="val 1061"/>
            </a:avLst>
          </a:prstGeom>
          <a:solidFill>
            <a:srgbClr val="F1F4F7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47888" y="177393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三、流程與管理層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8247888" y="212140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責任：公司／專案管理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8247888" y="2523744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致命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8778240" y="25237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主線三個人工關卡，商家全看不到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8247888" y="2848356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致命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8778240" y="284835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 端被內部流程連坐（20b）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8247888" y="3172968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致命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8778240" y="317296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商業模式與交付互相矛盾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8247888" y="3497580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致命</a:t>
            </a:r>
            <a:endParaRPr lang="en-US" sz="950" dirty="0"/>
          </a:p>
        </p:txBody>
      </p:sp>
      <p:sp>
        <p:nvSpPr>
          <p:cNvPr id="64" name="Text 62"/>
          <p:cNvSpPr txBox="1"/>
          <p:nvPr/>
        </p:nvSpPr>
        <p:spPr>
          <a:xfrm>
            <a:off x="8778240" y="34975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這條主線沒有被內部走過一次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8247888" y="3822192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8778240" y="38221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 步裡商家只能獨立完成 5 步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8247888" y="4146804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</a:t>
            </a:r>
            <a:endParaRPr lang="en-US" sz="950" dirty="0"/>
          </a:p>
        </p:txBody>
      </p:sp>
      <p:sp>
        <p:nvSpPr>
          <p:cNvPr id="68" name="Text 66"/>
          <p:cNvSpPr txBox="1"/>
          <p:nvPr/>
        </p:nvSpPr>
        <p:spPr>
          <a:xfrm>
            <a:off x="8778240" y="41468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三處死路都在主線必經節點上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8247888" y="4617720"/>
            <a:ext cx="3044952" cy="1280160"/>
          </a:xfrm>
          <a:prstGeom prst="roundRect">
            <a:avLst>
              <a:gd name="adj" fmla="val 2857"/>
            </a:avLst>
          </a:prstGeom>
          <a:solidFill>
            <a:srgbClr val="FBEBE9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8485632" y="4773168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缺的不是工程能力，是驗收。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8、16、18 步的問題，只要有人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實際付一次錢走一次，就不可能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看不到。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括號內數字為對應的流程步驟編號。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可以直接問對方的三個問題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9844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沒有一個需要技術背景，也沒有一個能用「這是小 bug，之後修」帶過。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1920240"/>
            <a:ext cx="10607040" cy="1280160"/>
          </a:xfrm>
          <a:prstGeom prst="roundRect">
            <a:avLst>
              <a:gd name="adj" fmla="val 2857"/>
            </a:avLst>
          </a:prstGeom>
          <a:solidFill>
            <a:srgbClr val="2B3A4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194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09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1719072" y="2103120"/>
            <a:ext cx="9509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上線之前，團隊裡有沒有任何一個人，以商家身分、用自己的信用卡，從付款一路走到語音真的能被播放？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719072" y="267004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如果有，第 8、16、18 步不可能長這樣。如果沒有，問題就不在工程師身上，而在誰該負責驗收這條路徑。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3383280"/>
            <a:ext cx="10607040" cy="1280160"/>
          </a:xfrm>
          <a:prstGeom prst="roundRect">
            <a:avLst>
              <a:gd name="adj" fmla="val 2857"/>
            </a:avLst>
          </a:prstGeom>
          <a:solidFill>
            <a:srgbClr val="2B3A4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05840" y="3657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09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1719072" y="3566160"/>
            <a:ext cx="9509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「認領」這個步驟是為了解決什麼問題？它為什麼不能在付款完成的當下自動完成？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719072" y="413308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如果答案是「防止有人亂認領別人的店」，那該做的是身分驗證，不是把一個需要後台手動開關的按鈕丟給付費客戶自己猜。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846320"/>
            <a:ext cx="10607040" cy="1280160"/>
          </a:xfrm>
          <a:prstGeom prst="roundRect">
            <a:avLst>
              <a:gd name="adj" fmla="val 2857"/>
            </a:avLst>
          </a:prstGeom>
          <a:solidFill>
            <a:srgbClr val="2B3A4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" y="5120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09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1719072" y="5029200"/>
            <a:ext cx="9509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商家付的 $3,800，買到的交付物具體是哪一個畫面？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719072" y="559612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錄音自己錄、文案自己寫、照片自己拍、認領自己點。請對方在這 21 張截圖裡指出來。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2636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 21 步的流程圖，是使用者第一次幫這個團隊走完的。缺的不是工程能力，是驗收。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916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B3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9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附錄：地圖服務評估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Maps → OpenStreetMap。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換掉的不是底圖，是景點資料的來源。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074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追加評估 ・ 2026.08.28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評估緣起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為什麼要做這份比對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120640" cy="1920240"/>
          </a:xfrm>
          <a:prstGeom prst="roundRect">
            <a:avLst>
              <a:gd name="adj" fmla="val 1905"/>
            </a:avLst>
          </a:prstGeom>
          <a:solidFill>
            <a:srgbClr val="F1F4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41248" y="18288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i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「這可能還是要等梓康列出用 google map 的 app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i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目前的操作流程列出來，才能比對改成 open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i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street 後會犧牲甚麼」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999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群組訊息　本頁之後即是這份清單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5120640" cy="2423160"/>
          </a:xfrm>
          <a:prstGeom prst="roundRect">
            <a:avLst>
              <a:gd name="adj" fmla="val 1509"/>
            </a:avLst>
          </a:prstGeom>
          <a:solidFill>
            <a:srgbClr val="F1F4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3904488"/>
            <a:ext cx="4535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這份評估做了什麼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4288536"/>
            <a:ext cx="4535424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依 21 步實測流程，逐格標出每一個 Google 觸點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分三級評估遷移代價：壞掉／降級／變好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列出截圖看不出來、必須問工程師的 8 個問題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不含遷移方案與工時估算——那要等問題 1–3 的答案。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0" y="1600200"/>
            <a:ext cx="5486400" cy="2697480"/>
          </a:xfrm>
          <a:prstGeom prst="roundRect">
            <a:avLst>
              <a:gd name="adj" fmla="val 1356"/>
            </a:avLst>
          </a:prstGeom>
          <a:solidFill>
            <a:srgbClr val="FBEBE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46520" y="181965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結論先講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240280"/>
            <a:ext cx="4846320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如果景點是用 Google 的 place_id 當主鍵，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這就不是換底圖，是換資料庫。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證據在步驟 9 → 10：商家搜到「香記烤鴨」的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當下，這個景點在系統裡還沒有任何語音，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卻已經有完整店名與 Google 格式的地址。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4526280"/>
            <a:ext cx="5486400" cy="1600200"/>
          </a:xfrm>
          <a:prstGeom prst="roundRect">
            <a:avLst>
              <a:gd name="adj" fmla="val 2286"/>
            </a:avLst>
          </a:prstGeom>
          <a:solidFill>
            <a:srgbClr val="FBF0E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47457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所以真正的問題是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5166360"/>
            <a:ext cx="48463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 OSM 犧牲的不是功能，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是「你們原本不用自己建資料」這件事。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本文標示「待確認」者為截圖無法判讀、需工程師回覆的項目，未經確認前不應作為決策依據。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 21 步實測截圖逐格檢查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目前流程的 Google 觸點清單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64240" cy="402336"/>
          </a:xfrm>
          <a:prstGeom prst="rect">
            <a:avLst/>
          </a:prstGeom>
          <a:solidFill>
            <a:srgbClr val="F1F4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572768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039112" y="1572768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畫面上看到的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559552" y="1572768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背後用到 Google 的什麼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1975104"/>
            <a:ext cx="11064240" cy="45720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975104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08 / 09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039112" y="197510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底圖、道路與水系中文標註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559552" y="1975104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Maps SDK — 畫面左下角有 Google 浮水印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432304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2432304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039112" y="243230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「文化部文化資產園區」藍字藍釘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559552" y="2432304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自有 POI 圖層 — 這不是你們的景點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2889504"/>
            <a:ext cx="11064240" cy="45720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232" y="2889504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039112" y="288950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公車站圖示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559552" y="2889504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大眾運輸圖層，OSM 標準圖層無等價呈現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346704"/>
            <a:ext cx="11064240" cy="457200"/>
          </a:xfrm>
          <a:prstGeom prst="rect">
            <a:avLst/>
          </a:prstGeom>
          <a:solidFill>
            <a:srgbClr val="FBEBE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346704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039112" y="334670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搜尋「香記烤鴨」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559552" y="3346704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Places Text Search — 商家找到自己的唯一路徑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3803904"/>
            <a:ext cx="11064240" cy="45720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13232" y="3803904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039112" y="380390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「顯示周邊景點」按鈕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559552" y="3803904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待確認：打 Nearby Search，或查自家景點資料庫？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4261104"/>
            <a:ext cx="11064240" cy="457200"/>
          </a:xfrm>
          <a:prstGeom prst="rect">
            <a:avLst/>
          </a:prstGeom>
          <a:solidFill>
            <a:srgbClr val="FBEBE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13232" y="4261104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– 21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2039112" y="426110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店名（前台與後台三處都有）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559552" y="4261104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Places 的 name，已寫進自家資料庫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4718304"/>
            <a:ext cx="11064240" cy="457200"/>
          </a:xfrm>
          <a:prstGeom prst="rect">
            <a:avLst/>
          </a:prstGeom>
          <a:solidFill>
            <a:srgbClr val="FBEBE9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13232" y="4718304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039112" y="471830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完整地址（含郵遞區號與「里」）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559552" y="4718304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的 formatted_address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5175504"/>
            <a:ext cx="110642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13232" y="5175504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 / 18 / 21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2039112" y="517550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右上角地圖圖示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559552" y="5175504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待確認：是否跳轉 Google Maps App 導航？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48640" y="5632704"/>
            <a:ext cx="11064240" cy="457200"/>
          </a:xfrm>
          <a:prstGeom prst="rect">
            <a:avLst/>
          </a:prstGeom>
          <a:solidFill>
            <a:srgbClr val="FBEBE9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13232" y="5632704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2039112" y="563270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畫面上看不到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5559552" y="5632704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景點的唯一識別鍵 — 最關鍵，必須先問到答案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紅底列＝換掉會直接壞掉的項目。「待確認」＝截圖無法判讀，需工程師回覆。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85216" cy="585216"/>
          </a:xfrm>
          <a:prstGeom prst="ellipse">
            <a:avLst/>
          </a:prstGeom>
          <a:solidFill>
            <a:srgbClr val="B325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遷移代價 ・ A 級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直接壞掉：不是犧牲，是要重做</a:t>
            </a:r>
            <a:endParaRPr lang="en-US" sz="2700" dirty="0"/>
          </a:p>
        </p:txBody>
      </p:sp>
      <p:pic>
        <p:nvPicPr>
          <p:cNvPr id="6" name="Image 0" descr="C:\Users\D1081493\AppData\Local\Temp\claude\C--Users-D1081493-Desktop-wmux-0-8-5\05788e44-933f-4ad6-bd87-31a70750e9ba\scratchpad\audit\img\c09_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5394960" cy="96926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pic>
        <p:nvPicPr>
          <p:cNvPr id="7" name="Image 1" descr="C:\Users\D1081493\AppData\Local\Temp\claude\C--Users-D1081493-Desktop-wmux-0-8-5\05788e44-933f-4ad6-bd87-31a70750e9ba\scratchpad\audit\img\c10_add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97480"/>
            <a:ext cx="5394960" cy="978408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B2430">
                <a:alpha val="20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548640" y="384048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9 搜到這間店的當下，它在系統裡還沒有任何語音，卻已經有完整店名與「40250台灣臺中市南區國光里台中路252號」——郵遞區號在前、有「里」、國名在前，這是 Google formatted_address 的台灣格式，不是使用者手打的。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5257800"/>
            <a:ext cx="5394960" cy="868680"/>
          </a:xfrm>
          <a:prstGeom prst="roundRect">
            <a:avLst>
              <a:gd name="adj" fmla="val 4211"/>
            </a:avLst>
          </a:prstGeom>
          <a:solidFill>
            <a:srgbClr val="FBEBE9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868680" y="547725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景點是 Google 給的，不是你們自己建的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5897880"/>
            <a:ext cx="4754880" cy="9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這一格決定了下面三項的量級。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17920" y="1572768"/>
            <a:ext cx="5394960" cy="1481328"/>
          </a:xfrm>
          <a:prstGeom prst="roundRect">
            <a:avLst>
              <a:gd name="adj" fmla="val 2469"/>
            </a:avLst>
          </a:prstGeom>
          <a:solidFill>
            <a:srgbClr val="FBEBE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37960" y="17922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A1　景點主鍵失效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537960" y="2212848"/>
            <a:ext cx="4754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已上傳的語音、審核紀錄、認領關係全部要重新對應。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OSM 的 ID 與 place_id 沒有官方對照表。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217920" y="3218688"/>
            <a:ext cx="5394960" cy="1481328"/>
          </a:xfrm>
          <a:prstGeom prst="roundRect">
            <a:avLst>
              <a:gd name="adj" fmla="val 2469"/>
            </a:avLst>
          </a:prstGeom>
          <a:solidFill>
            <a:srgbClr val="FBEBE9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537960" y="343814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A2　商家搜不到自己的店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6537960" y="3858768"/>
            <a:ext cx="4754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OSM 在台灣的小型商家覆蓋率遠低於 Google。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搜不到自己＝訂閱流程從第 9 步就斷掉。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217920" y="4864608"/>
            <a:ext cx="5394960" cy="1207008"/>
          </a:xfrm>
          <a:prstGeom prst="roundRect">
            <a:avLst>
              <a:gd name="adj" fmla="val 3030"/>
            </a:avLst>
          </a:prstGeom>
          <a:solidFill>
            <a:srgbClr val="FBEBE9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537960" y="508406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5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A3　地址格式不穩定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6537960" y="55046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Nominatim 在台灣常缺門牌、缺里、順序不同。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級嚴格說不是「犧牲」——是必須先解決，否則遷移無法進行。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遷移代價 ・ B 級與 C 級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明顯降級的，與會變好的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394960" cy="4553712"/>
          </a:xfrm>
          <a:prstGeom prst="roundRect">
            <a:avLst>
              <a:gd name="adj" fmla="val 803"/>
            </a:avLst>
          </a:prstGeom>
          <a:solidFill>
            <a:srgbClr val="FBF0E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6A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 ・ 明顯降級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214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這才是真正的「犧牲」，可以接受但要先讓決策者知道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42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542032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底圖會「變空」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816352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8 那些地標、夜市是 Google 標的，OSM 商家類 POI 明顯稀疏，探索體驗下降。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2552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255264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中文標註不完整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29584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OSM 台灣的 name:zh 覆蓋不一致，會出現中英夾雜的路名。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9684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968496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大眾運輸圖層要自己接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242816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公車站要改接公部門資料（例如 TDX），是額外的開發與維運。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B4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4681728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導航跳轉沒有對等替代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956048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若目前是丟給 Google Maps App，換底圖後這個依賴其實沒有消失。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5394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6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B5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539496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照片／評分／營業時間／電話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6692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OSM 完全沒有對應資料。需先確認資料庫存了哪些欄位。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1572768"/>
            <a:ext cx="5394960" cy="4553712"/>
          </a:xfrm>
          <a:prstGeom prst="roundRect">
            <a:avLst>
              <a:gd name="adj" fmla="val 803"/>
            </a:avLst>
          </a:prstGeom>
          <a:solidFill>
            <a:srgbClr val="E4EFE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37960" y="178308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 ・ 會變好的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537960" y="21214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換過去的真正理由——但 ODbL 不等於無條件免費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25786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5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2578608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省錢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2852928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Places Text Search 通常是這類 App 帳單裡最貴的一項，而步驟 9 把它放在最高頻的路徑上。先把每月帳單與各 API 佔比拉出來，那個數字才是決策依據。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537960" y="37856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5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7040880" y="3785616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解掉一個現存的條款風險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040880" y="4059936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條款限制快取 Places 內容，也限制把 Google 資料顯示在非 Google 底圖上。目前這個 App 把 Google 的店名地址存進自家表、還當成付費商品的一部分販售——這件事值得法務看一眼。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537960" y="49926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5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C3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7040880" y="4992624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 OSM 是 ODbL，有 share-alike 義務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40880" y="5266944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A455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若把 OSM 資料與自家資料合併成衍生資料庫，可能被要求以同樣授權釋出。換之前要先確認資料模型會不會落入這個範圍。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 級是可接受的取捨，C 級是換過去的理由——但兩邊都要先有 A 級的答案才成立。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F6F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八個必須由工程師回覆的問題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先問到答案，才做得出比對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1024128"/>
          </a:xfrm>
          <a:prstGeom prst="roundRect">
            <a:avLst>
              <a:gd name="adj" fmla="val 3571"/>
            </a:avLst>
          </a:prstGeom>
          <a:solidFill>
            <a:srgbClr val="FBEBE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74650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2821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景點的主鍵是 Google place_id，還是自家 UUID？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1671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決定整件事是「換套件」還是「搬資料庫」，量級差一個數量級。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1600200"/>
            <a:ext cx="5394960" cy="1024128"/>
          </a:xfrm>
          <a:prstGeom prst="roundRect">
            <a:avLst>
              <a:gd name="adj" fmla="val 3571"/>
            </a:avLst>
          </a:prstGeom>
          <a:solidFill>
            <a:srgbClr val="FBEBE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73952" y="174650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172821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名稱與地址是存起來，還是每次即時打 API？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21671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存起來牽涉 Google 條款的快取限制；即時打牽涉每筆請求費用。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752344"/>
            <a:ext cx="5394960" cy="1024128"/>
          </a:xfrm>
          <a:prstGeom prst="roundRect">
            <a:avLst>
              <a:gd name="adj" fmla="val 3571"/>
            </a:avLst>
          </a:prstGeom>
          <a:solidFill>
            <a:srgbClr val="FBEBE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28986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5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8803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搜尋框搜的是 Google Places，還是自家景點資料庫？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31927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步驟 9 搜到店時它還沒有語音，看起來是搜 Google。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2752344"/>
            <a:ext cx="5394960" cy="1024128"/>
          </a:xfrm>
          <a:prstGeom prst="roundRect">
            <a:avLst>
              <a:gd name="adj" fmla="val 3571"/>
            </a:avLst>
          </a:prstGeom>
          <a:solidFill>
            <a:srgbClr val="F1F4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73952" y="28986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28803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「顯示周邊景點」打 Nearby Search，還是查自家 DB？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995160" y="331927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後者幾乎零遷移成本，前者要重做。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04488"/>
            <a:ext cx="5394960" cy="1024128"/>
          </a:xfrm>
          <a:prstGeom prst="roundRect">
            <a:avLst>
              <a:gd name="adj" fmla="val 3571"/>
            </a:avLst>
          </a:prstGeom>
          <a:solidFill>
            <a:srgbClr val="F1F4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405079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03250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目前每月 Google Maps 帳單多少？哪一支 API 佔比最高？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447141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如果省下的錢遠小於遷移工時，這個提案本身就不成立。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3904488"/>
            <a:ext cx="5394960" cy="1024128"/>
          </a:xfrm>
          <a:prstGeom prst="roundRect">
            <a:avLst>
              <a:gd name="adj" fmla="val 3571"/>
            </a:avLst>
          </a:prstGeom>
          <a:solidFill>
            <a:srgbClr val="F1F4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73952" y="405079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995160" y="403250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地圖圖示點下去，是跳 Google Maps App 還是內嵌？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995160" y="447141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若是跳轉，即使底圖換成 OSM，這個依賴其實沒有消失。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056632"/>
            <a:ext cx="5394960" cy="1024128"/>
          </a:xfrm>
          <a:prstGeom prst="roundRect">
            <a:avLst>
              <a:gd name="adj" fmla="val 3571"/>
            </a:avLst>
          </a:prstGeom>
          <a:solidFill>
            <a:srgbClr val="F1F4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4672" y="520293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325880" y="5184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資料庫裡除了名稱和地址，還存了哪些 Places 欄位？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1325880" y="56235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照片、評分、營業時間、電話——OSM 都沒有等價來源。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217920" y="5056632"/>
            <a:ext cx="5394960" cy="1024128"/>
          </a:xfrm>
          <a:prstGeom prst="roundRect">
            <a:avLst>
              <a:gd name="adj" fmla="val 3571"/>
            </a:avLst>
          </a:prstGeom>
          <a:solidFill>
            <a:srgbClr val="F1F4F7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73952" y="520293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995160" y="5184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418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存下來的 Google 資料保留多久？有沒有做定期清除？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995160" y="56235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這題是給法務的。若是「一直留著」，換 OSM 就不只是省錢。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紅底三題是前提：沒有這三個答案，任何遷移估算都是猜的。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85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這個比對的順序被搞反了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258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4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該先回答的不是「換 OSM 會犧牲什麼」，而是「這個 App 到底把地圖當成什麼」。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5120640" cy="2148840"/>
          </a:xfrm>
          <a:prstGeom prst="roundRect">
            <a:avLst>
              <a:gd name="adj" fmla="val 1702"/>
            </a:avLst>
          </a:prstGeom>
          <a:solidFill>
            <a:srgbClr val="2B3A4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97280" y="2057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BD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情境一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3957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地圖只是「找到景點的介面」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85292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景點資料是你們自己的，地圖只負責顯示。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那 OSM 完全夠用，遷移是一次前端工作，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上面 A 級的風險大部分不存在。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874520"/>
            <a:ext cx="5120640" cy="2148840"/>
          </a:xfrm>
          <a:prstGeom prst="roundRect">
            <a:avLst>
              <a:gd name="adj" fmla="val 1702"/>
            </a:avLst>
          </a:prstGeom>
          <a:solidFill>
            <a:srgbClr val="2B3A4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37960" y="2057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情境二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3957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地圖是「景點資料的來源」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85292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景點是從 Google Places 長出來的。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那這不是換底圖的問題，是整個資料模型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AB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建立在別人家的資料上，而且還拿它收費。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783080"/>
          </a:xfrm>
          <a:prstGeom prst="roundRect">
            <a:avLst>
              <a:gd name="adj" fmla="val 2051"/>
            </a:avLst>
          </a:prstGeom>
          <a:solidFill>
            <a:srgbClr val="2B3A4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E08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從步驟 9 → 10 看，很可能是情境二。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如果是這樣，換 OSM 犧牲的不是功能，是「你們原本不用自己建資料」這件事——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要算的是資料工程與內容補齊，不是前端換個圖層。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2636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9A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這跟訂閱流程稽核發現的是同一個病灶：訂閱綁帳號、內容綁景點、景點綁 Google——三層之間沒有一層是自己接起來的。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ResoMap 商家訂閱流程稽核</dc:title>
  <dc:subject>PptxGenJS Presentation</dc:subject>
  <dc:creator>Product Audit</dc:creator>
  <cp:lastModifiedBy>Product Audit</cp:lastModifiedBy>
  <cp:revision>1</cp:revision>
  <dcterms:created xsi:type="dcterms:W3CDTF">2026-08-28T07:19:57Z</dcterms:created>
  <dcterms:modified xsi:type="dcterms:W3CDTF">2026-08-28T07:19:57Z</dcterms:modified>
</cp:coreProperties>
</file>