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這份是提案，不是稽核。稽核那份是這份的依據。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先對齊議程，避免會議發散。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現況連席位餘額都沒顯示，直接跳到扣點制會更混亂。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這一頁是明天最該先問 Jay 的：他說的扣點數是哪一種。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自定義廣告那個欄位是現成的，可以最快掛上點數。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價格只是示意，重點是結構：席位進場 + 點數續消費。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這是整份提案裡最大的流程改動，也是最容易得到共識的一項。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九步裡有八步兩版完全一樣。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通知是最便宜、感受最強的一項改動。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版能做的優化有限，天花板是硬的。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新建審核併進認領驗證，是避免流程變長的關鍵。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這張表可以直接拿來做決策討論。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分兩階段可以讓明天的會議不必馬上決定地圖。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用這四題收會議，避免只討論不決定。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收在「階段一可以立刻開始」，讓會議有明確的下一步。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09A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RESOMAP　／　商家訂閱模式改版提案　／　2026.08.29 會議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60020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訂閱模式怎麼改，</a:t>
            </a:r>
            <a:endParaRPr lang="en-US" sz="4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版與 OSM 版各一套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77240" y="3931920"/>
            <a:ext cx="1371600" cy="36576"/>
          </a:xfrm>
          <a:prstGeom prst="rect">
            <a:avLst/>
          </a:prstGeom>
          <a:solidFill>
            <a:srgbClr val="E09A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4224528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B8C2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21 步商家訂閱流程實測結果，重新設計付費與上架流程。</a:t>
            </a: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兩版共用 9 步，真正不同的只有「怎麼找到／建立一個地點」。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553212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2B3A4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5532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9A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扣點數模型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971800" y="553212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2B3A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71800" y="5532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FBD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流程改版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66360" y="553212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2B3A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66360" y="5532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AE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版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60920" y="553212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2B3A4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60920" y="5532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FC7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OSM 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議程對齊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明天要談的三件事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1353312"/>
          </a:xfrm>
          <a:prstGeom prst="roundRect">
            <a:avLst>
              <a:gd name="adj" fmla="val 2703"/>
            </a:avLst>
          </a:prstGeom>
          <a:solidFill>
            <a:srgbClr val="FBF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4708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10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Jay 提的「改成扣點數」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24942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目前方案是「幾個景點」的席位制，點數從未被定義也未被顯示。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扣點數指的是哪一種模型？這一題不先確定，流程沒辦法畫。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45536"/>
            <a:ext cx="11064240" cy="1353312"/>
          </a:xfrm>
          <a:prstGeom prst="roundRect">
            <a:avLst>
              <a:gd name="adj" fmla="val 2703"/>
            </a:avLst>
          </a:prstGeom>
          <a:solidFill>
            <a:srgbClr val="E2ED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3649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3284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商家訂閱流程怎麼改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7673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 21 步找到 3 處死路、0 則通知。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最大的一項改動是：認領要從第 11 步往前移到第 3 步。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1064240" cy="1353312"/>
          </a:xfrm>
          <a:prstGeom prst="roundRect">
            <a:avLst>
              <a:gd name="adj" fmla="val 2703"/>
            </a:avLst>
          </a:prstGeom>
          <a:solidFill>
            <a:srgbClr val="E5EA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88289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846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沿用 Google，還是連 OSM 一起評估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5285232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已確認：兩邊都要。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本提案兩套流程都畫，並標出唯一真正不同的那一步。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資料來源：2026/08/26–08/27 商家訂閱流程實測（21 步，含後台 2 張截圖）。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916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B3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063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訂閱模式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977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先把「點數」講清楚。目前這個字在產品裡沒有定義，</a:t>
            </a: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也沒有任何一個畫面顯示過餘額。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5074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A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扣點數模型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訂閱模式現況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現況：有「點」這個字，但沒有點數這個東西</a:t>
            </a:r>
            <a:endParaRPr lang="en-US" sz="2700" dirty="0"/>
          </a:p>
        </p:txBody>
      </p:sp>
      <p:pic>
        <p:nvPicPr>
          <p:cNvPr id="4" name="Image 0" descr="C:\Users\D1081493\AppData\Local\Temp\claude\C--Users-D1081493-Desktop-wmux-0-8-5\05788e44-933f-4ad6-bd87-31a70750e9ba\scratchpad\audit\img\s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2066544" cy="44805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pic>
        <p:nvPicPr>
          <p:cNvPr id="5" name="Image 1" descr="C:\Users\D1081493\AppData\Local\Temp\claude\C--Users-D1081493-Desktop-wmux-0-8-5\05788e44-933f-4ad6-bd87-31a70750e9ba\scratchpad\audit\img\s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554480"/>
            <a:ext cx="2066544" cy="44805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B2430">
                <a:alpha val="20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685800" y="605332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方案頁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2788920" y="605332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付款後的「我的訂閱」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349240" y="1554480"/>
            <a:ext cx="6263640" cy="1965960"/>
          </a:xfrm>
          <a:prstGeom prst="roundRect">
            <a:avLst>
              <a:gd name="adj" fmla="val 1860"/>
            </a:avLst>
          </a:prstGeom>
          <a:solidFill>
            <a:srgbClr val="FBEBE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641848" y="1755648"/>
            <a:ext cx="5678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方案叫「幾點」，實際上是「幾個景點」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5641848" y="2157984"/>
            <a:ext cx="5678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入門 1 點／進階 2 點 $2,600／專業 3 點 $3,800，皆年費。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括號寫「1 個景點」「2 個景點」「3 個景點」——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所以「點」＝可上架的景點數，是席位，不是消耗品。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349240" y="3657600"/>
            <a:ext cx="6263640" cy="2468880"/>
          </a:xfrm>
          <a:prstGeom prst="roundRect">
            <a:avLst>
              <a:gd name="adj" fmla="val 1481"/>
            </a:avLst>
          </a:prstGeom>
          <a:solidFill>
            <a:srgbClr val="FBEB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641848" y="3858768"/>
            <a:ext cx="5678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但整個 App 沒有任何地方顯示餘額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5641848" y="4261104"/>
            <a:ext cx="56784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沒有「已使用 1／3」　✕ 沒有剩餘點數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認領時不知道會不會扣　✕ 取消認領不知道會不會退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沒有到期日、沒有下次扣款日、沒有試用剩餘天數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商家付了 $3,800，看不到自己買了什麼、用掉多少。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要改成扣點數之前，得先讓「點數」在畫面上存在。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三種模型，對流程的影響完全不同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先確認：「扣點數」是哪一種？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447288" cy="4160520"/>
          </a:xfrm>
          <a:prstGeom prst="roundRect">
            <a:avLst>
              <a:gd name="adj" fmla="val 1061"/>
            </a:avLst>
          </a:prstGeom>
          <a:solidFill>
            <a:srgbClr val="F1F4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214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席位制（現況）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054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點數 ＝ 同時可上架的景點數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54096"/>
            <a:ext cx="29260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認領時佔用 1 席，取消認領歸還。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像座位授權，不會用完。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適合：有 1–3 家店的商家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流程影響：不用改，只要把餘額顯示出來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0248" y="1627632"/>
            <a:ext cx="3447288" cy="4160520"/>
          </a:xfrm>
          <a:prstGeom prst="roundRect">
            <a:avLst>
              <a:gd name="adj" fmla="val 1061"/>
            </a:avLst>
          </a:prstGeom>
          <a:solidFill>
            <a:srgbClr val="FBF0E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44568" y="1810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1214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消耗制（純扣點）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25054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點數 ＝ 可上架的語音則數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3054096"/>
            <a:ext cx="29260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每上架一則語音扣 N 點，用完要儲值。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像預付卡。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適合：內容量大、想多做幾則的商家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流程影響：要加儲值流程與「點數不足」的擋點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91856" y="1627632"/>
            <a:ext cx="3447288" cy="4160520"/>
          </a:xfrm>
          <a:prstGeom prst="roundRect">
            <a:avLst>
              <a:gd name="adj" fmla="val 1061"/>
            </a:avLst>
          </a:prstGeom>
          <a:solidFill>
            <a:srgbClr val="E2ED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66176" y="1810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66176" y="21214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混合制（建議）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25054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席位 ＋ 加值點數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3054096"/>
            <a:ext cx="29260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景點佔席位；額外功能扣點數。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兩套並存，UI 要分清楚。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適合：大多數情況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流程影響：兩者都要做，但可以分階段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897880"/>
            <a:ext cx="11064240" cy="384048"/>
          </a:xfrm>
          <a:prstGeom prst="roundRect">
            <a:avLst>
              <a:gd name="adj" fmla="val 9524"/>
            </a:avLst>
          </a:prstGeom>
          <a:solidFill>
            <a:srgbClr val="E2ED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" y="58978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為什麼建議 C：餐廳通常只有 1–3 家店。純席位制買了就固定、沒有再消費的理由；純消耗制對只有一家店的商家沒有意義。混合才有持續營收。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混合制的「消耗」那一半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加值點數可以拿來買什麼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47288" cy="1691640"/>
          </a:xfrm>
          <a:prstGeom prst="roundRect">
            <a:avLst>
              <a:gd name="adj" fmla="val 2162"/>
            </a:avLst>
          </a:prstGeom>
          <a:solidFill>
            <a:srgbClr val="E2ED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額外語音則數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505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同一個景點多做幾則：中／英／日、季節限定、老闆的故事、幕後製程。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70248" y="1645920"/>
            <a:ext cx="3447288" cy="1691640"/>
          </a:xfrm>
          <a:prstGeom prst="roundRect">
            <a:avLst>
              <a:gd name="adj" fmla="val 2162"/>
            </a:avLst>
          </a:prstGeom>
          <a:solidFill>
            <a:srgbClr val="E2ED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44568" y="1828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1031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多語言 AI 配音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4505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一次錄音，生成多語版本。實測檔名就是 AI 生成的，能力已經有了。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91856" y="1645920"/>
            <a:ext cx="3447288" cy="1691640"/>
          </a:xfrm>
          <a:prstGeom prst="roundRect">
            <a:avLst>
              <a:gd name="adj" fmla="val 2162"/>
            </a:avLst>
          </a:prstGeom>
          <a:solidFill>
            <a:srgbClr val="E2ED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66176" y="1828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66176" y="21031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地圖與首頁置頂曝光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266176" y="24505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限時把自己的 pin 放大或置頂。這是最直接的曝光需求。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447288" cy="1691640"/>
          </a:xfrm>
          <a:prstGeom prst="roundRect">
            <a:avLst>
              <a:gd name="adj" fmla="val 2162"/>
            </a:avLst>
          </a:prstGeom>
          <a:solidFill>
            <a:srgbClr val="E2ED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703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9776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自定義廣告版位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32511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裡已經有「自定義廣告 0／50 字」的欄位，但沒有任何商業模式掛在上面。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70248" y="3520440"/>
            <a:ext cx="3447288" cy="1691640"/>
          </a:xfrm>
          <a:prstGeom prst="roundRect">
            <a:avLst>
              <a:gd name="adj" fmla="val 2162"/>
            </a:avLst>
          </a:prstGeom>
          <a:solidFill>
            <a:srgbClr val="E2ED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44568" y="3703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44568" y="39776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活動推播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544568" y="432511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推給收藏過這個景點、或聽完語音的用戶。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91856" y="3520440"/>
            <a:ext cx="3447288" cy="1691640"/>
          </a:xfrm>
          <a:prstGeom prst="roundRect">
            <a:avLst>
              <a:gd name="adj" fmla="val 2162"/>
            </a:avLst>
          </a:prstGeom>
          <a:solidFill>
            <a:srgbClr val="E2EDE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66176" y="3703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66176" y="39776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數據報表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266176" y="432511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播放數、完聽率、來客時段。目前商家什麼數據都看不到。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468112"/>
            <a:ext cx="11064240" cy="658368"/>
          </a:xfrm>
          <a:prstGeom prst="roundRect">
            <a:avLst>
              <a:gd name="adj" fmla="val 5556"/>
            </a:avLst>
          </a:prstGeom>
          <a:solidFill>
            <a:srgbClr val="FBF0E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8680" y="546811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注意：第 4 項「自定義廣告」欄位現在就在 App 裡（步驟 21 認領成功後的畫面），做好了卻沒有收費機制掛上去——這是現成可以先變現的一塊。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席位負責「進場」，加值點數負責「持續消費」。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席位 ＋ 內含點數 ＋ 可加購（價格為示意，由你們定）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方案改版建議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6916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999232" y="169164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席位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370832" y="16916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年費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99632" y="169164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內含加值點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19872" y="169164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12264"/>
            <a:ext cx="11064240" cy="56692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1122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免費版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211226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370832" y="211226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21122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119872" y="21122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瀏覽、體驗、聽別人的導覽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79192"/>
            <a:ext cx="11064240" cy="566928"/>
          </a:xfrm>
          <a:prstGeom prst="rect">
            <a:avLst/>
          </a:prstGeom>
          <a:solidFill>
            <a:srgbClr val="E2ED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26791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單店版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999232" y="267919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70832" y="267919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$1,800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267919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點／年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119872" y="267919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單一店面的餐飲、旅宿、小店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11064240" cy="566928"/>
          </a:xfrm>
          <a:prstGeom prst="rect">
            <a:avLst/>
          </a:prstGeom>
          <a:solidFill>
            <a:srgbClr val="E2EDE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32461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多店版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2999232" y="3246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370832" y="32461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$3,800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199632" y="32461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點／年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119872" y="32461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連鎖或有多個分店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813048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3232" y="38130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加購席位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2999232" y="38130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370832" y="381304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$1,200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199632" y="381304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119872" y="381304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開了新分店，隨時加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379976"/>
            <a:ext cx="11064240" cy="56692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3232" y="43799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點數包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2999232" y="43799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370832" y="43799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$300／200 點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199632" y="437997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119872" y="437997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想多做語音或買曝光時加值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FBF0E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6868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三個要一起改的：① 訂閱頁要顯示「席位 1／3、點數 240」② 要有到期日與下次扣款日 ③ 28 天試用要顯示剩幾天。這些都是訂閱制的基本盤，目前全部沒有。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現況：入門 1 點／進階 2 點 $2,600／專業 3 點 $3,800，年費，28 天試用。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916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B3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063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流程改版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977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最大的一項改動：認領要從第 11 步往前移到第 3 步。</a:t>
            </a: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所有權先確立，再投入內容生產。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5074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A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兩版共用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從第 11 步移到第 3 步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核心改動：認領往前移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83664"/>
            <a:ext cx="1115568" cy="658368"/>
          </a:xfrm>
          <a:prstGeom prst="roundRect">
            <a:avLst>
              <a:gd name="adj" fmla="val 5556"/>
            </a:avLst>
          </a:prstGeom>
          <a:solidFill>
            <a:srgbClr val="F1F4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83664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783080" y="1883664"/>
            <a:ext cx="1115568" cy="658368"/>
          </a:xfrm>
          <a:prstGeom prst="roundRect">
            <a:avLst>
              <a:gd name="adj" fmla="val 5556"/>
            </a:avLst>
          </a:prstGeom>
          <a:solidFill>
            <a:srgbClr val="F1F4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83080" y="1883664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上傳語音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17520" y="1883664"/>
            <a:ext cx="1115568" cy="658368"/>
          </a:xfrm>
          <a:prstGeom prst="roundRect">
            <a:avLst>
              <a:gd name="adj" fmla="val 5556"/>
            </a:avLst>
          </a:prstGeom>
          <a:solidFill>
            <a:srgbClr val="F1F4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17520" y="1883664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選類型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51960" y="1883664"/>
            <a:ext cx="1115568" cy="658368"/>
          </a:xfrm>
          <a:prstGeom prst="roundRect">
            <a:avLst>
              <a:gd name="adj" fmla="val 5556"/>
            </a:avLst>
          </a:prstGeom>
          <a:solidFill>
            <a:srgbClr val="F1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51960" y="1883664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文案照片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0" y="1883664"/>
            <a:ext cx="1115568" cy="658368"/>
          </a:xfrm>
          <a:prstGeom prst="roundRect">
            <a:avLst>
              <a:gd name="adj" fmla="val 5556"/>
            </a:avLst>
          </a:prstGeom>
          <a:solidFill>
            <a:srgbClr val="F1F4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0" y="1883664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送審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20840" y="1883664"/>
            <a:ext cx="1115568" cy="658368"/>
          </a:xfrm>
          <a:prstGeom prst="roundRect">
            <a:avLst>
              <a:gd name="adj" fmla="val 5556"/>
            </a:avLst>
          </a:prstGeom>
          <a:solidFill>
            <a:srgbClr val="F1F4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20840" y="1883664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後台審核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55280" y="1883664"/>
            <a:ext cx="1115568" cy="658368"/>
          </a:xfrm>
          <a:prstGeom prst="roundRect">
            <a:avLst>
              <a:gd name="adj" fmla="val 5556"/>
            </a:avLst>
          </a:prstGeom>
          <a:solidFill>
            <a:srgbClr val="FBEBE9"/>
          </a:solidFill>
          <a:ln w="12700">
            <a:solidFill>
              <a:srgbClr val="B325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0" y="1883664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後台開放認領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89720" y="1883664"/>
            <a:ext cx="1115568" cy="658368"/>
          </a:xfrm>
          <a:prstGeom prst="roundRect">
            <a:avLst>
              <a:gd name="adj" fmla="val 5556"/>
            </a:avLst>
          </a:prstGeom>
          <a:solidFill>
            <a:srgbClr val="FBEBE9"/>
          </a:solidFill>
          <a:ln w="12700">
            <a:solidFill>
              <a:srgbClr val="B325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1883664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商家認領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424160" y="1883664"/>
            <a:ext cx="1115568" cy="658368"/>
          </a:xfrm>
          <a:prstGeom prst="roundRect">
            <a:avLst>
              <a:gd name="adj" fmla="val 5556"/>
            </a:avLst>
          </a:prstGeom>
          <a:solidFill>
            <a:srgbClr val="F1F4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424160" y="1883664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上架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2688336"/>
            <a:ext cx="11064240" cy="566928"/>
          </a:xfrm>
          <a:prstGeom prst="roundRect">
            <a:avLst>
              <a:gd name="adj" fmla="val 6452"/>
            </a:avLst>
          </a:prstGeom>
          <a:solidFill>
            <a:srgbClr val="FBEBE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26883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商家把語音、照片、文案全部做完、等審核過了，才被允許認領自己的店——而且按下去還可能跳「該景點目前不可被認領」。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5295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改良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877056"/>
            <a:ext cx="1115568" cy="658368"/>
          </a:xfrm>
          <a:prstGeom prst="roundRect">
            <a:avLst>
              <a:gd name="adj" fmla="val 5556"/>
            </a:avLst>
          </a:prstGeom>
          <a:solidFill>
            <a:srgbClr val="F1F4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3877056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訂閱／儲值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783080" y="3877056"/>
            <a:ext cx="1115568" cy="658368"/>
          </a:xfrm>
          <a:prstGeom prst="roundRect">
            <a:avLst>
              <a:gd name="adj" fmla="val 5556"/>
            </a:avLst>
          </a:prstGeom>
          <a:solidFill>
            <a:srgbClr val="F1F4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783080" y="3877056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找到我的店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017520" y="3877056"/>
            <a:ext cx="1115568" cy="658368"/>
          </a:xfrm>
          <a:prstGeom prst="roundRect">
            <a:avLst>
              <a:gd name="adj" fmla="val 5556"/>
            </a:avLst>
          </a:prstGeom>
          <a:solidFill>
            <a:srgbClr val="E2EDEC"/>
          </a:solidFill>
          <a:ln w="12700">
            <a:solidFill>
              <a:srgbClr val="1F6F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17520" y="3877056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認領申請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51960" y="3877056"/>
            <a:ext cx="1115568" cy="658368"/>
          </a:xfrm>
          <a:prstGeom prst="roundRect">
            <a:avLst>
              <a:gd name="adj" fmla="val 5556"/>
            </a:avLst>
          </a:prstGeom>
          <a:solidFill>
            <a:srgbClr val="E2EDEC"/>
          </a:solidFill>
          <a:ln w="12700">
            <a:solidFill>
              <a:srgbClr val="1F6F6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51960" y="3877056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驗證通過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0" y="3877056"/>
            <a:ext cx="1115568" cy="658368"/>
          </a:xfrm>
          <a:prstGeom prst="roundRect">
            <a:avLst>
              <a:gd name="adj" fmla="val 5556"/>
            </a:avLst>
          </a:prstGeom>
          <a:solidFill>
            <a:srgbClr val="E2EDEC"/>
          </a:solidFill>
          <a:ln w="12700">
            <a:solidFill>
              <a:srgbClr val="1F6F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0" y="3877056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 1 席位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720840" y="3877056"/>
            <a:ext cx="1115568" cy="658368"/>
          </a:xfrm>
          <a:prstGeom prst="roundRect">
            <a:avLst>
              <a:gd name="adj" fmla="val 5556"/>
            </a:avLst>
          </a:prstGeom>
          <a:solidFill>
            <a:srgbClr val="F1F4F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20840" y="3877056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建立內容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955280" y="3877056"/>
            <a:ext cx="1115568" cy="658368"/>
          </a:xfrm>
          <a:prstGeom prst="roundRect">
            <a:avLst>
              <a:gd name="adj" fmla="val 5556"/>
            </a:avLst>
          </a:prstGeom>
          <a:solidFill>
            <a:srgbClr val="F1F4F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955280" y="3877056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送審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189720" y="3877056"/>
            <a:ext cx="1115568" cy="658368"/>
          </a:xfrm>
          <a:prstGeom prst="roundRect">
            <a:avLst>
              <a:gd name="adj" fmla="val 5556"/>
            </a:avLst>
          </a:prstGeom>
          <a:solidFill>
            <a:srgbClr val="F1F4F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189720" y="3877056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審核通過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424160" y="3877056"/>
            <a:ext cx="1115568" cy="658368"/>
          </a:xfrm>
          <a:prstGeom prst="roundRect">
            <a:avLst>
              <a:gd name="adj" fmla="val 5556"/>
            </a:avLst>
          </a:prstGeom>
          <a:solidFill>
            <a:srgbClr val="F1F4F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424160" y="3877056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自動上架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4828032"/>
            <a:ext cx="3447288" cy="1298448"/>
          </a:xfrm>
          <a:prstGeom prst="roundRect">
            <a:avLst>
              <a:gd name="adj" fmla="val 2817"/>
            </a:avLst>
          </a:prstGeom>
          <a:solidFill>
            <a:srgbClr val="E2EDE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22960" y="49926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所有權先確立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822960" y="534009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認領是「這是我的店」的宣告，應該在投入成本之前完成，不是之後。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270248" y="4828032"/>
            <a:ext cx="3447288" cy="1298448"/>
          </a:xfrm>
          <a:prstGeom prst="roundRect">
            <a:avLst>
              <a:gd name="adj" fmla="val 2817"/>
            </a:avLst>
          </a:prstGeom>
          <a:solidFill>
            <a:srgbClr val="E2EDEC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544568" y="49926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扣點時機明確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4544568" y="534009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認領成功才扣 1 席位。商家清楚知道自己用掉了什麼、還剩多少。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991856" y="4828032"/>
            <a:ext cx="3447288" cy="1298448"/>
          </a:xfrm>
          <a:prstGeom prst="roundRect">
            <a:avLst>
              <a:gd name="adj" fmla="val 2817"/>
            </a:avLst>
          </a:prstGeom>
          <a:solidFill>
            <a:srgbClr val="E2EDEC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266176" y="49926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死路自然消失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8266176" y="534009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沒有「做完全部才發現不能認領」這件事，第 18 步那個矛盾畫面也不存在了。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這一項改動跟地圖服務無關，Google 版與 OSM 版都適用。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真正不同的只有第 2 步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改良後的通用流程（兩版共用 9 步）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47288" cy="1371600"/>
          </a:xfrm>
          <a:prstGeom prst="roundRect">
            <a:avLst>
              <a:gd name="adj" fmla="val 2667"/>
            </a:avLst>
          </a:prstGeom>
          <a:solidFill>
            <a:srgbClr val="F1F4F7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847088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6537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選方案／儲值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04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訂閱頁直接顯示「席位 0／1、點數 100」。付款成功後不是彈窗就結束，而是帶到下一步。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0248" y="1645920"/>
            <a:ext cx="3447288" cy="1371600"/>
          </a:xfrm>
          <a:prstGeom prst="roundRect">
            <a:avLst>
              <a:gd name="adj" fmla="val 2667"/>
            </a:avLst>
          </a:prstGeom>
          <a:solidFill>
            <a:srgbClr val="E5EAF3"/>
          </a:solidFill>
          <a:ln w="15875">
            <a:solidFill>
              <a:srgbClr val="2F4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1847088"/>
            <a:ext cx="384048" cy="384048"/>
          </a:xfrm>
          <a:prstGeom prst="ellipse">
            <a:avLst/>
          </a:prstGeom>
          <a:solidFill>
            <a:srgbClr val="2F4A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7992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01768" y="186537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找到我的店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304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搜尋。這一步是 Google 版與 OSM 版唯一不同的地方。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91856" y="1645920"/>
            <a:ext cx="3447288" cy="1371600"/>
          </a:xfrm>
          <a:prstGeom prst="roundRect">
            <a:avLst>
              <a:gd name="adj" fmla="val 2667"/>
            </a:avLst>
          </a:prstGeom>
          <a:solidFill>
            <a:srgbClr val="F1F4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847088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723376" y="186537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認領申請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2304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上傳營業登記或店面照片，說明「我是這家店的人」。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182112"/>
            <a:ext cx="3447288" cy="1371600"/>
          </a:xfrm>
          <a:prstGeom prst="roundRect">
            <a:avLst>
              <a:gd name="adj" fmla="val 2667"/>
            </a:avLst>
          </a:prstGeom>
          <a:solidFill>
            <a:srgbClr val="F1F4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" y="3383280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6384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4015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後台驗證 → 通知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8404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人工看一次。通過或退回都要推播，不要讓商家自己猜。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70248" y="3182112"/>
            <a:ext cx="3447288" cy="1371600"/>
          </a:xfrm>
          <a:prstGeom prst="roundRect">
            <a:avLst>
              <a:gd name="adj" fmla="val 2667"/>
            </a:avLst>
          </a:prstGeom>
          <a:solidFill>
            <a:srgbClr val="F1F4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507992" y="3383280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07992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001768" y="34015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認領成功，扣 1 席位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44568" y="38404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扣點時機在這裡。畫面明確顯示「已使用 1／3」。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91856" y="3182112"/>
            <a:ext cx="3447288" cy="1371600"/>
          </a:xfrm>
          <a:prstGeom prst="roundRect">
            <a:avLst>
              <a:gd name="adj" fmla="val 2667"/>
            </a:avLst>
          </a:prstGeom>
          <a:solidFill>
            <a:srgbClr val="F1F4F7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0" y="3383280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23376" y="34015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建立內容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66176" y="38404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錄音、文案、照片。此時商家已經確定這家店是他的了。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718304"/>
            <a:ext cx="3447288" cy="1371600"/>
          </a:xfrm>
          <a:prstGeom prst="roundRect">
            <a:avLst>
              <a:gd name="adj" fmla="val 2667"/>
            </a:avLst>
          </a:prstGeom>
          <a:solidFill>
            <a:srgbClr val="F1F4F7"/>
          </a:solidFill>
          <a:ln/>
        </p:spPr>
      </p:sp>
      <p:sp>
        <p:nvSpPr>
          <p:cNvPr id="35" name="Shape 33"/>
          <p:cNvSpPr/>
          <p:nvPr/>
        </p:nvSpPr>
        <p:spPr>
          <a:xfrm>
            <a:off x="786384" y="4919472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86384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280160" y="49377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送審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53766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列表上出現「審核中」卡片與預計完成時間，不是消失不見。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270248" y="4718304"/>
            <a:ext cx="3447288" cy="1371600"/>
          </a:xfrm>
          <a:prstGeom prst="roundRect">
            <a:avLst>
              <a:gd name="adj" fmla="val 2667"/>
            </a:avLst>
          </a:prstGeom>
          <a:solidFill>
            <a:srgbClr val="F1F4F7"/>
          </a:solidFill>
          <a:ln/>
        </p:spPr>
      </p:sp>
      <p:sp>
        <p:nvSpPr>
          <p:cNvPr id="40" name="Shape 38"/>
          <p:cNvSpPr/>
          <p:nvPr/>
        </p:nvSpPr>
        <p:spPr>
          <a:xfrm>
            <a:off x="4507992" y="4919472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507992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001768" y="49377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審核通過 → 通知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544568" y="53766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推播「你的語音已上架」，附一個直接跳過去的連結。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991856" y="4718304"/>
            <a:ext cx="3447288" cy="1371600"/>
          </a:xfrm>
          <a:prstGeom prst="roundRect">
            <a:avLst>
              <a:gd name="adj" fmla="val 2667"/>
            </a:avLst>
          </a:prstGeom>
          <a:solidFill>
            <a:srgbClr val="F1F4F7"/>
          </a:solidFill>
          <a:ln/>
        </p:spPr>
      </p:sp>
      <p:sp>
        <p:nvSpPr>
          <p:cNvPr id="45" name="Shape 43"/>
          <p:cNvSpPr/>
          <p:nvPr/>
        </p:nvSpPr>
        <p:spPr>
          <a:xfrm>
            <a:off x="8229600" y="4919472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229600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723376" y="49377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自動上架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8266176" y="53766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不需要再認領一次。前台立刻可播。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藍框的第 2 步是分岔點——接下來兩頁分別畫 Google 版與 OSM 版。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目前全程零通知，商家只能反覆回訪碰運氣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通知：從 0 則變成 5 則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804672"/>
          </a:xfrm>
          <a:prstGeom prst="roundRect">
            <a:avLst>
              <a:gd name="adj" fmla="val 4545"/>
            </a:avLst>
          </a:prstGeom>
          <a:solidFill>
            <a:srgbClr val="FAFB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65376"/>
            <a:ext cx="365760" cy="365760"/>
          </a:xfrm>
          <a:prstGeom prst="ellipse">
            <a:avLst/>
          </a:prstGeom>
          <a:solidFill>
            <a:srgbClr val="C06A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65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4592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付款成功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64592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「你有 1 個席位可以使用。下一步：找到你的店」＋ 直接跳轉按鈕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164592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取代目前按完「好」就沒事發生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11064240" cy="804672"/>
          </a:xfrm>
          <a:prstGeom prst="roundRect">
            <a:avLst>
              <a:gd name="adj" fmla="val 4545"/>
            </a:avLst>
          </a:prstGeom>
          <a:solidFill>
            <a:srgbClr val="F1F4F7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779776"/>
            <a:ext cx="365760" cy="365760"/>
          </a:xfrm>
          <a:prstGeom prst="ellipse">
            <a:avLst/>
          </a:prstGeom>
          <a:solidFill>
            <a:srgbClr val="C06A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56032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認領通過／退回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56032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「香記烤鴨 已通過認領」／「需要補件：照片看不到招牌」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256032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目前商家完全不知道後台開關撥了沒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11064240" cy="804672"/>
          </a:xfrm>
          <a:prstGeom prst="roundRect">
            <a:avLst>
              <a:gd name="adj" fmla="val 4545"/>
            </a:avLst>
          </a:prstGeom>
          <a:solidFill>
            <a:srgbClr val="FAFB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3694176"/>
            <a:ext cx="365760" cy="365760"/>
          </a:xfrm>
          <a:prstGeom prst="ellipse">
            <a:avLst/>
          </a:prstGeom>
          <a:solidFill>
            <a:srgbClr val="C06A2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47472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審核通過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347472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「你的語音已上架，去聽聽看」＋ 跳轉連結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347472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取代「不知道什麼時候審核完成」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11064240" cy="804672"/>
          </a:xfrm>
          <a:prstGeom prst="roundRect">
            <a:avLst>
              <a:gd name="adj" fmla="val 4545"/>
            </a:avLst>
          </a:prstGeom>
          <a:solidFill>
            <a:srgbClr val="F1F4F7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4608576"/>
            <a:ext cx="365760" cy="365760"/>
          </a:xfrm>
          <a:prstGeom prst="ellipse">
            <a:avLst/>
          </a:prstGeom>
          <a:solidFill>
            <a:srgbClr val="C06A2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38912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審核退回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438912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「需要修改」＋ 明確原因與可以直接編輯的入口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549640" y="438912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目前沒有退回這條路徑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303520"/>
            <a:ext cx="11064240" cy="804672"/>
          </a:xfrm>
          <a:prstGeom prst="roundRect">
            <a:avLst>
              <a:gd name="adj" fmla="val 4545"/>
            </a:avLst>
          </a:prstGeom>
          <a:solidFill>
            <a:srgbClr val="FAFB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5522976"/>
            <a:ext cx="365760" cy="365760"/>
          </a:xfrm>
          <a:prstGeom prst="ellipse">
            <a:avLst/>
          </a:prstGeom>
          <a:solidFill>
            <a:srgbClr val="C06A2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522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530352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到期前 7 天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3291840" y="530352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「訂閱將於 9/15 續訂，金額 $3,800」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549640" y="530352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目前連到期日都看不到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右欄是目前的狀況。四個關鍵狀態變化，商家現在收到 0 則通知。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916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B3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063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版 vs OSM 版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977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兩套流程只有第 2 步不同。</a:t>
            </a: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差別不在地圖長什麼樣，在「搜不到的時候怎麼辦」。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5074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A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兩邊都要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85216" cy="585216"/>
          </a:xfrm>
          <a:prstGeom prst="ellipse">
            <a:avLst/>
          </a:prstGeom>
          <a:solidFill>
            <a:srgbClr val="2F4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F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版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步：搜尋 Places，搜不到就沒有下一步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2148840"/>
          </a:xfrm>
          <a:prstGeom prst="roundRect">
            <a:avLst>
              <a:gd name="adj" fmla="val 1702"/>
            </a:avLst>
          </a:prstGeom>
          <a:solidFill>
            <a:srgbClr val="E5EAF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步　找到我的店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231136"/>
            <a:ext cx="3291840" cy="1298448"/>
          </a:xfrm>
          <a:prstGeom prst="roundRect">
            <a:avLst>
              <a:gd name="adj" fmla="val 2817"/>
            </a:avLst>
          </a:prstGeom>
          <a:solidFill>
            <a:srgbClr val="F1F4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24712" y="239572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輸入店名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124712" y="274320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 Google Places Text Search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2231136"/>
            <a:ext cx="3291840" cy="1298448"/>
          </a:xfrm>
          <a:prstGeom prst="roundRect">
            <a:avLst>
              <a:gd name="adj" fmla="val 2817"/>
            </a:avLst>
          </a:prstGeom>
          <a:solidFill>
            <a:srgbClr val="E2ED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39572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有結果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74320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 → 帶出店名與地址 → 進入第 3 步認領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231136"/>
            <a:ext cx="3291840" cy="1298448"/>
          </a:xfrm>
          <a:prstGeom prst="roundRect">
            <a:avLst>
              <a:gd name="adj" fmla="val 2817"/>
            </a:avLst>
          </a:prstGeom>
          <a:solidFill>
            <a:srgbClr val="FBEB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65592" y="239572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沒有結果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165592" y="274320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走不下去。只能請商家先去登錄 Google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13632"/>
            <a:ext cx="5440680" cy="2212848"/>
          </a:xfrm>
          <a:prstGeom prst="roundRect">
            <a:avLst>
              <a:gd name="adj" fmla="val 1653"/>
            </a:avLst>
          </a:prstGeom>
          <a:solidFill>
            <a:srgbClr val="E5EAF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4114800"/>
            <a:ext cx="4855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可以先做的優化（不換地圖也能做）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517136"/>
            <a:ext cx="48554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搜尋結果加上「這是我的店嗎」的確認畫面，避免認錯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搜不到時，明確告訴商家原因與該怎麼辦，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並提供「通知我們幫忙處理」的表單留住線索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允許商家在認領後修改店名與地址（存自家欄位，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顯示時優先用自家的）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913632"/>
            <a:ext cx="5440680" cy="2212848"/>
          </a:xfrm>
          <a:prstGeom prst="roundRect">
            <a:avLst>
              <a:gd name="adj" fmla="val 1653"/>
            </a:avLst>
          </a:prstGeom>
          <a:solidFill>
            <a:srgbClr val="FBEB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4808" y="4114800"/>
            <a:ext cx="4855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25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但天花板拆不掉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4517136"/>
            <a:ext cx="48554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不論怎麼優化，Google 沒收錄的店就是進不來。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新開幕的餐廳、夜市攤位、市場攤商、路邊小店、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廟宇分殿、步道涼亭——這些客群永遠卡在第 2 步。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ResoMap 的獲客資格，還是由 Google 決定。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1、3–9 步與 OSM 版完全相同。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85216" cy="585216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7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OSM 版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步：搜不到就自己建，路不會斷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2148840"/>
          </a:xfrm>
          <a:prstGeom prst="roundRect">
            <a:avLst>
              <a:gd name="adj" fmla="val 1702"/>
            </a:avLst>
          </a:prstGeom>
          <a:solidFill>
            <a:srgbClr val="E3F0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步　找到或建立我的店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231136"/>
            <a:ext cx="3291840" cy="1298448"/>
          </a:xfrm>
          <a:prstGeom prst="roundRect">
            <a:avLst>
              <a:gd name="adj" fmla="val 2817"/>
            </a:avLst>
          </a:prstGeom>
          <a:solidFill>
            <a:srgbClr val="F1F4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24712" y="239572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輸入店名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124712" y="274320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先查自家景點庫，沒有再查 OSM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2231136"/>
            <a:ext cx="3291840" cy="1298448"/>
          </a:xfrm>
          <a:prstGeom prst="roundRect">
            <a:avLst>
              <a:gd name="adj" fmla="val 2817"/>
            </a:avLst>
          </a:prstGeom>
          <a:solidFill>
            <a:srgbClr val="E2ED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39572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有結果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74320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 → 帶出店名與地址 → 進入第 3 步認領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231136"/>
            <a:ext cx="3291840" cy="1298448"/>
          </a:xfrm>
          <a:prstGeom prst="roundRect">
            <a:avLst>
              <a:gd name="adj" fmla="val 2817"/>
            </a:avLst>
          </a:prstGeom>
          <a:solidFill>
            <a:srgbClr val="E3F0E8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65592" y="239572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沒有結果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165592" y="274320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手動建立地點 → 直接進入第 3 步認領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13632"/>
            <a:ext cx="5440680" cy="2212848"/>
          </a:xfrm>
          <a:prstGeom prst="roundRect">
            <a:avLst>
              <a:gd name="adj" fmla="val 1653"/>
            </a:avLst>
          </a:prstGeom>
          <a:solidFill>
            <a:srgbClr val="E3F0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4114800"/>
            <a:ext cx="4855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「手動建立地點」要收哪些欄位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517136"/>
            <a:ext cx="48554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・店名（必填）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・地址（用逆地理編碼預填，可自己改）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・地圖選點（拖大頭針，這是最關鍵的欄位）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・類別（餐飲／旅宿／零售／景點）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・營業時間、電話（選填）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提示文案：「這個地點會由 ResoMap 審核後建立」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913632"/>
            <a:ext cx="5440680" cy="2212848"/>
          </a:xfrm>
          <a:prstGeom prst="roundRect">
            <a:avLst>
              <a:gd name="adj" fmla="val 1653"/>
            </a:avLst>
          </a:prstGeom>
          <a:solidFill>
            <a:srgbClr val="FBF0E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4808" y="4114800"/>
            <a:ext cx="4855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新建地點要防的三件事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4517136"/>
            <a:ext cx="48554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亂建：隨便標一個點佔位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重複：同一家店被建成兩筆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假地點：根本不存在的店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解法：新建地點的審核，直接併進第 4 步的認領驗證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一起看——反正都要人工看一次，不必多一道關卡。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1、3–9 步與 Google 版完全相同。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差在哪、要多做什麼、天花板在哪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兩版並排比較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43200" cy="45720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0" y="1600200"/>
            <a:ext cx="4160520" cy="457200"/>
          </a:xfrm>
          <a:prstGeom prst="rect">
            <a:avLst/>
          </a:prstGeom>
          <a:solidFill>
            <a:srgbClr val="2F4A7A"/>
          </a:solidFill>
          <a:ln/>
        </p:spPr>
      </p:sp>
      <p:sp>
        <p:nvSpPr>
          <p:cNvPr id="6" name="Shape 4"/>
          <p:cNvSpPr/>
          <p:nvPr/>
        </p:nvSpPr>
        <p:spPr>
          <a:xfrm>
            <a:off x="7452360" y="1600200"/>
            <a:ext cx="4160520" cy="45720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比較項目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456432" y="16002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版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616952" y="16002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OSM 版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11064240" cy="438912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0574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搜尋來源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456432" y="205740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Places Text Search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16952" y="205740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自家景點庫 ＋ OSM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496312"/>
            <a:ext cx="11064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24963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搜不到怎麼辦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52360" y="2496312"/>
            <a:ext cx="4160520" cy="438912"/>
          </a:xfrm>
          <a:prstGeom prst="rect">
            <a:avLst/>
          </a:prstGeom>
          <a:solidFill>
            <a:srgbClr val="E3F0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56432" y="249631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走不下去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616952" y="249631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手動建立地點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935224"/>
            <a:ext cx="11064240" cy="438912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" y="293522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可服務的商家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452360" y="2935224"/>
            <a:ext cx="4160520" cy="438912"/>
          </a:xfrm>
          <a:prstGeom prst="rect">
            <a:avLst/>
          </a:prstGeom>
          <a:solidFill>
            <a:srgbClr val="E3F0E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56432" y="293522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Google 收錄的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616952" y="293522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374136"/>
            <a:ext cx="11064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3232" y="337413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新開幕的店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52360" y="3374136"/>
            <a:ext cx="4160520" cy="438912"/>
          </a:xfrm>
          <a:prstGeom prst="rect">
            <a:avLst/>
          </a:prstGeom>
          <a:solidFill>
            <a:srgbClr val="E3F0E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456432" y="337413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要先等 Google 收錄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16952" y="337413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當天就能上架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813048"/>
            <a:ext cx="11064240" cy="438912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381304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店名地址錯了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52360" y="3813048"/>
            <a:ext cx="4160520" cy="438912"/>
          </a:xfrm>
          <a:prstGeom prst="rect">
            <a:avLst/>
          </a:prstGeom>
          <a:solidFill>
            <a:srgbClr val="E3F0E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456432" y="381304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改不掉，只能跟 Google 申訴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616952" y="381304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平台自己可以修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251960"/>
            <a:ext cx="11064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3232" y="42519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每月成本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452360" y="4251960"/>
            <a:ext cx="4160520" cy="438912"/>
          </a:xfrm>
          <a:prstGeom prst="rect">
            <a:avLst/>
          </a:prstGeom>
          <a:solidFill>
            <a:srgbClr val="E3F0E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456432" y="42519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Places 查詢費（最高頻路徑）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616952" y="42519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接近 0（自架服務另計）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690872"/>
            <a:ext cx="11064240" cy="438912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3232" y="46908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底圖與 POI 品質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3291840" y="4690872"/>
            <a:ext cx="4160520" cy="438912"/>
          </a:xfrm>
          <a:prstGeom prst="rect">
            <a:avLst/>
          </a:prstGeom>
          <a:solidFill>
            <a:srgbClr val="E5EAF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456432" y="469087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高，商家資料完整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616952" y="469087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道路門牌不差，商家 POI 較弱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5129784"/>
            <a:ext cx="11064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13232" y="512978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要新增的開發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3291840" y="5129784"/>
            <a:ext cx="4160520" cy="438912"/>
          </a:xfrm>
          <a:prstGeom prst="rect">
            <a:avLst/>
          </a:prstGeom>
          <a:solidFill>
            <a:srgbClr val="E5EAF3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456432" y="512978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認領前移、通知、點數 UI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616952" y="512978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上述 ＋ 建立地點頁 ＋ 新建審核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48640" y="5568696"/>
            <a:ext cx="11064240" cy="438912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13232" y="55686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法務風險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3456432" y="556869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Places 快取限制存在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616952" y="556869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改為 ODbL 的 share-alike 義務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底色標示的是該項比較占優的一邊。兩版在第 1、3–9 步完全相同。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916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B3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063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怎麼落地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977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訂閱模式與流程改版跟地圖無關，可以先做。</a:t>
            </a: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8B4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地圖那一題等兩個工程答案再決定。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5074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A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分兩階段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階段一不用決定地圖，馬上可以開始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建議分兩階段走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440680" cy="4480560"/>
          </a:xfrm>
          <a:prstGeom prst="roundRect">
            <a:avLst>
              <a:gd name="adj" fmla="val 816"/>
            </a:avLst>
          </a:prstGeom>
          <a:solidFill>
            <a:srgbClr val="E2ED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　訂閱模式與流程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12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Google／OSM 完全無關，兩邊都要做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7004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6700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訂閱頁顯示席位與點數餘額、到期日、扣款日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08152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0815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認領往前移到第 3 步，認領成功才扣席位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49300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4930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上傳後顯示「審核中」卡片與預計時間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90448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9044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五個通知（付款、認領、審核通過、退回、到期）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31596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3159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「景點管理」入口從三個點移到明顯位置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72744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7274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修掉三處死路（找不到店、內容消失、按鈕矛盾）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513892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1389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Markdown 解析、續訂條款完整顯示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555040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5504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加值點數的第一個商品：自定義廣告版位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1627632"/>
            <a:ext cx="5440680" cy="4480560"/>
          </a:xfrm>
          <a:prstGeom prst="roundRect">
            <a:avLst>
              <a:gd name="adj" fmla="val 816"/>
            </a:avLst>
          </a:prstGeom>
          <a:solidFill>
            <a:srgbClr val="E5EAF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18288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　地圖服務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2212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要先有兩個工程答案才能估工時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267004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26700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搜尋來源從 Places 切到 自家景點庫 ＋ OSM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19672" y="308152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30815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新增「手動建立地點」頁（店名／地址／選點／類別）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19672" y="349300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34930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新建地點審核，併進認領驗證一起看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519672" y="390448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9044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地址與店名改為可由商家修改、存自家欄位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519672" y="431596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43159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底圖換 OSM 圖磚，補中文標註的缺口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519672" y="472744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47274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公車站等圖層改接公部門資料（如 TDX）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519672" y="513892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812280" y="51389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導航跳轉的替代方案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519672" y="555040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812280" y="55504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ODbL 對自家資料模型的影響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階段一做完，商家的體感改善最大，而且不需要先決定地圖要不要換。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06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前兩件不決定，後面畫不下去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明天要決定的四件事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FBF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470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8105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「扣點數」指的是哪一種模型？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128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席位制／消耗制／混合制。這一題決定訂閱頁、扣點時機、儲值流程全部怎麼做。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98064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FBF0E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98094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9443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認領往前移到第 3 步，同意嗎？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3467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這是流程最大的一項改動，但也是解掉三處死路的關鍵。跟地圖無關。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F1F4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1148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0782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階段一先做，還是兩階段一起？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480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階段一與地圖無關，可以立刻開工。等地圖決策會拖住整包。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65776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F1F4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524865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2120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兩個工程問題什麼時候能有答案？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56144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搜尋框打的是 Places 還是自家 DB？② 認領綁 place_id 還是自家 ID？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橘底兩題是前提：沒有答案，訂閱頁與流程圖都畫不出來。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7132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09A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207008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訂閱模式與流程要改的部分，</a:t>
            </a:r>
            <a:endParaRPr lang="en-US" sz="3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跟換不換地圖沒有關係。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3108960"/>
            <a:ext cx="3291840" cy="1874520"/>
          </a:xfrm>
          <a:prstGeom prst="roundRect">
            <a:avLst>
              <a:gd name="adj" fmla="val 1951"/>
            </a:avLst>
          </a:prstGeom>
          <a:solidFill>
            <a:srgbClr val="2B3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9848" y="3291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BD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兩版一樣的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3675888"/>
            <a:ext cx="27066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4CE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九步裡有八步完全相同：訂閱、認領、驗證、扣點、內容、送審、審核、上架。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3108960"/>
            <a:ext cx="3291840" cy="1874520"/>
          </a:xfrm>
          <a:prstGeom prst="roundRect">
            <a:avLst>
              <a:gd name="adj" fmla="val 1951"/>
            </a:avLst>
          </a:prstGeom>
          <a:solidFill>
            <a:srgbClr val="2B3A4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81728" y="3291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E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兩版不同的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81728" y="3675888"/>
            <a:ext cx="27066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4CE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只有第 2 步。Google 版搜不到就走不下去；OSM 版搜不到可以自己建。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01000" y="3108960"/>
            <a:ext cx="3291840" cy="1874520"/>
          </a:xfrm>
          <a:prstGeom prst="roundRect">
            <a:avLst>
              <a:gd name="adj" fmla="val 1951"/>
            </a:avLst>
          </a:prstGeom>
          <a:solidFill>
            <a:srgbClr val="2B3A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93608" y="3291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真正的差別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3675888"/>
            <a:ext cx="27066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4CE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不是底圖好不好看，是平台能不能決定自己要服務誰。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5212080"/>
            <a:ext cx="10607040" cy="914400"/>
          </a:xfrm>
          <a:prstGeom prst="roundRect">
            <a:avLst>
              <a:gd name="adj" fmla="val 4000"/>
            </a:avLst>
          </a:prstGeom>
          <a:solidFill>
            <a:srgbClr val="1E3A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52120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FD6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建議：階段一（訂閱模式＋流程）現在就開始，不必等地圖決策。地圖那一題等兩個工程答案回來再定。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62910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依據：2026/08/26–08/27 商家訂閱流程實測 21 步。價格與點數配額為結構示意，實際數字由你們定。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ResoMap 商家訂閱模式改版提案</dc:title>
  <dc:subject>PptxGenJS Presentation</dc:subject>
  <dc:creator>Product</dc:creator>
  <cp:lastModifiedBy>Product</cp:lastModifiedBy>
  <cp:revision>1</cp:revision>
  <dcterms:created xsi:type="dcterms:W3CDTF">2026-08-30T14:33:34Z</dcterms:created>
  <dcterms:modified xsi:type="dcterms:W3CDTF">2026-08-30T14:33:34Z</dcterms:modified>
</cp:coreProperties>
</file>